
<file path=[Content_Types].xml><?xml version="1.0" encoding="utf-8"?>
<Types xmlns="http://schemas.openxmlformats.org/package/2006/content-types">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sldIdLst>
    <p:sldId id="256" r:id="rId3"/>
    <p:sldId id="257" r:id="rId4"/>
    <p:sldId id="258" r:id="rId5"/>
    <p:sldId id="259" r:id="rId6"/>
    <p:sldId id="260" r:id="rId7"/>
  </p:sldIdLst>
  <p:sldSz cx="12192000"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4993" autoAdjust="0"/>
    <p:restoredTop sz="94660" autoAdjust="0"/>
  </p:normalViewPr>
  <p:slideViewPr>
    <p:cSldViewPr snapToGrid="0">
      <p:cViewPr>
        <p:scale>
          <a:sx n="94" d="100"/>
          <a:sy n="94"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showMasterSp="0" type="title" preserve="1">
  <p:cSld name="标题幻灯片">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ctrTitle"/>
          </p:nvPr>
        </p:nvSpPr>
        <p:spPr>
          <a:xfrm rot="0">
            <a:off x="1524000" y="1122363"/>
            <a:ext cx="9144000" cy="2387600"/>
          </a:xfrm>
          <a:prstGeom prst="rect"/>
          <a:noFill/>
          <a:ln w="12700" cmpd="sng" cap="flat">
            <a:noFill/>
            <a:prstDash val="solid"/>
            <a:miter/>
          </a:ln>
        </p:spPr>
        <p:txBody>
          <a:bodyPr vert="horz" wrap="square" lIns="91440" tIns="45720" rIns="91440" bIns="45720" anchor="b" anchorCtr="0">
            <a:prstTxWarp prst="textNoShape"/>
          </a:bodyPr>
          <a:lstStyle/>
          <a:p>
            <a:pPr marL="0" indent="0" algn="ctr">
              <a:lnSpc>
                <a:spcPct val="90000"/>
              </a:lnSpc>
              <a:spcBef>
                <a:spcPts val="0"/>
              </a:spcBef>
              <a:spcAft>
                <a:spcPts val="0"/>
              </a:spcAft>
              <a:buNone/>
            </a:pPr>
            <a:r>
              <a:rPr lang="en-US" altLang="zh-CN" sz="6000" b="0" i="0" u="none" strike="noStrike" kern="1200" cap="none" spc="0" baseline="0">
                <a:solidFill>
                  <a:schemeClr val="tx1"/>
                </a:solidFill>
                <a:latin typeface="Calibri Light" pitchFamily="0" charset="0"/>
                <a:ea typeface="等线 Light" pitchFamily="0" charset="0"/>
                <a:cs typeface="Lucida Sans" pitchFamily="0" charset="0"/>
              </a:rPr>
              <a:t>Click to edit Master title style</a:t>
            </a:r>
            <a:endParaRPr lang="zh-CN" altLang="en-US" sz="6000" b="0" i="0" u="none" strike="noStrike" kern="1200" cap="none" spc="0" baseline="0">
              <a:solidFill>
                <a:schemeClr val="tx1"/>
              </a:solidFill>
              <a:latin typeface="Calibri Light" pitchFamily="0" charset="0"/>
              <a:ea typeface="等线 Light" pitchFamily="0" charset="0"/>
              <a:cs typeface="Lucida Sans" pitchFamily="0" charset="0"/>
            </a:endParaRPr>
          </a:p>
        </p:txBody>
      </p:sp>
      <p:sp>
        <p:nvSpPr>
          <p:cNvPr id="8" name="Text box"/>
          <p:cNvSpPr>
            <a:spLocks noGrp="1"/>
          </p:cNvSpPr>
          <p:nvPr>
            <p:ph type="subTitle" idx="1"/>
          </p:nvPr>
        </p:nvSpPr>
        <p:spPr>
          <a:xfrm rot="0">
            <a:off x="1524000" y="3602038"/>
            <a:ext cx="9144000" cy="1655762"/>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90000"/>
              </a:lnSpc>
              <a:spcBef>
                <a:spcPts val="1000"/>
              </a:spcBef>
              <a:spcAft>
                <a:spcPts val="0"/>
              </a:spcAft>
              <a:buNone/>
            </a:pPr>
            <a:r>
              <a:rPr lang="en-US" altLang="zh-CN" sz="2400" b="0" i="0" u="none" strike="noStrike" kern="1200" cap="none" spc="0" baseline="0">
                <a:solidFill>
                  <a:schemeClr val="tx1"/>
                </a:solidFill>
                <a:latin typeface="Calibri" pitchFamily="0" charset="0"/>
                <a:ea typeface="等线" pitchFamily="0" charset="0"/>
                <a:cs typeface="Lucida Sans" pitchFamily="0" charset="0"/>
              </a:rPr>
              <a:t>Click to edit Master subtitle style</a:t>
            </a:r>
            <a:endParaRPr lang="zh-CN" altLang="en-US" sz="2400" b="0" i="0" u="none" strike="noStrike" kern="1200" cap="none" spc="0" baseline="0">
              <a:solidFill>
                <a:schemeClr val="tx1"/>
              </a:solidFill>
              <a:latin typeface="Calibri" pitchFamily="0" charset="0"/>
              <a:ea typeface="等线" pitchFamily="0" charset="0"/>
              <a:cs typeface="Lucida Sans" pitchFamily="0" charset="0"/>
            </a:endParaRPr>
          </a:p>
        </p:txBody>
      </p:sp>
      <p:sp>
        <p:nvSpPr>
          <p:cNvPr id="9" name="Text box"/>
          <p:cNvSpPr>
            <a:spLocks noGrp="1"/>
          </p:cNvSpPr>
          <p:nvPr>
            <p:ph type="dt" idx="10"/>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rgbClr val="898989"/>
                </a:solidFill>
                <a:latin typeface="Calibri" pitchFamily="0" charset="0"/>
                <a:ea typeface="等线" pitchFamily="0" charset="0"/>
                <a:cs typeface="Calibri" pitchFamily="0" charset="0"/>
              </a:rPr>
              <a:t>Date/Time</a:t>
            </a:r>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
        <p:nvSpPr>
          <p:cNvPr id="10" name="Text box"/>
          <p:cNvSpPr>
            <a:spLocks noGrp="1"/>
          </p:cNvSpPr>
          <p:nvPr>
            <p:ph type="ftr" idx="11"/>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
        <p:nvSpPr>
          <p:cNvPr id="11" name="Text box"/>
          <p:cNvSpPr>
            <a:spLocks noGrp="1"/>
          </p:cNvSpPr>
          <p:nvPr>
            <p:ph type="sldNum" idx="12"/>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512991203"/>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572675616"/>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720287615"/>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118442168"/>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24036231"/>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691978356"/>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083666857"/>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427519200"/>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429442195"/>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488029397"/>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778441098"/>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sp>
        <p:nvSpPr>
          <p:cNvPr id="16" name="Text box"/>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17" name="Text box"/>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8" name="Text box"/>
          <p:cNvSpPr>
            <a:spLocks noGrp="1"/>
          </p:cNvSpPr>
          <p:nvPr>
            <p:ph type="dt" idx="10"/>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r>
              <a:rPr lang="en-US" altLang="zh-CN" sz="1200">
                <a:solidFill>
                  <a:srgbClr val="898989"/>
                </a:solidFill>
                <a:latin typeface="Calibri" pitchFamily="0" charset="0"/>
                <a:ea typeface="等线" pitchFamily="0" charset="0"/>
                <a:cs typeface="Calibri" pitchFamily="0" charset="0"/>
              </a:rPr>
              <a:t>Date/Time</a:t>
            </a:r>
            <a:endParaRPr lang="zh-CN" altLang="en-US" sz="1200">
              <a:solidFill>
                <a:srgbClr val="898989"/>
              </a:solidFill>
              <a:latin typeface="Calibri" pitchFamily="0" charset="0"/>
              <a:ea typeface="等线" pitchFamily="0" charset="0"/>
              <a:cs typeface="Calibri" pitchFamily="0" charset="0"/>
            </a:endParaRPr>
          </a:p>
        </p:txBody>
      </p:sp>
      <p:sp>
        <p:nvSpPr>
          <p:cNvPr id="19" name="Text box"/>
          <p:cNvSpPr>
            <a:spLocks noGrp="1"/>
          </p:cNvSpPr>
          <p:nvPr>
            <p:ph type="ftr" idx="11"/>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898989"/>
              </a:solidFill>
              <a:latin typeface="Calibri" pitchFamily="0" charset="0"/>
              <a:ea typeface="等线" pitchFamily="0" charset="0"/>
              <a:cs typeface="Calibri" pitchFamily="0" charset="0"/>
            </a:endParaRPr>
          </a:p>
        </p:txBody>
      </p:sp>
      <p:sp>
        <p:nvSpPr>
          <p:cNvPr id="20" name="Text box"/>
          <p:cNvSpPr>
            <a:spLocks noGrp="1"/>
          </p:cNvSpPr>
          <p:nvPr>
            <p:ph type="sldNum" idx="12"/>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62101883"/>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3" name="Text box"/>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box"/>
          <p:cNvSpPr>
            <a:spLocks noGrp="1"/>
          </p:cNvSpPr>
          <p:nvPr>
            <p:ph type="dt" idx="2"/>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fld id="{CAD2D6BD-DE1B-4B5F-8B41-2702339687B9}" type="datetime1">
              <a:rPr lang="en-US" altLang="zh-CN" sz="1200">
                <a:solidFill>
                  <a:srgbClr val="898989"/>
                </a:solidFill>
                <a:latin typeface="Calibri" pitchFamily="0" charset="0"/>
                <a:ea typeface="等线" pitchFamily="0" charset="0"/>
                <a:cs typeface="Calibri" pitchFamily="0" charset="0"/>
              </a:rPr>
              <a:t>8/28/2026</a:t>
            </a:fld>
            <a:endParaRPr lang="zh-CN" altLang="en-US" sz="1200">
              <a:solidFill>
                <a:srgbClr val="898989"/>
              </a:solidFill>
              <a:latin typeface="Calibri" pitchFamily="0" charset="0"/>
              <a:ea typeface="等线" pitchFamily="0" charset="0"/>
              <a:cs typeface="Calibri" pitchFamily="0" charset="0"/>
            </a:endParaRPr>
          </a:p>
        </p:txBody>
      </p:sp>
      <p:sp>
        <p:nvSpPr>
          <p:cNvPr id="5" name="Text box"/>
          <p:cNvSpPr>
            <a:spLocks noGrp="1"/>
          </p:cNvSpPr>
          <p:nvPr>
            <p:ph type="ftr" idx="3"/>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898989"/>
              </a:solidFill>
              <a:latin typeface="Calibri" pitchFamily="0" charset="0"/>
              <a:ea typeface="等线" pitchFamily="0" charset="0"/>
              <a:cs typeface="Calibri" pitchFamily="0" charset="0"/>
            </a:endParaRPr>
          </a:p>
        </p:txBody>
      </p:sp>
      <p:sp>
        <p:nvSpPr>
          <p:cNvPr id="6" name="Text box"/>
          <p:cNvSpPr>
            <a:spLocks noGrp="1"/>
          </p:cNvSpPr>
          <p:nvPr>
            <p:ph type="sldNum" idx="4"/>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71051457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l" defTabSz="914400" eaLnBrk="1" fontAlgn="auto" latinLnBrk="0" hangingPunct="1">
        <a:lnSpc>
          <a:spcPct val="90000"/>
        </a:lnSpc>
        <a:spcBef>
          <a:spcPts val="0"/>
        </a:spcBef>
        <a:buNone/>
        <a:defRPr sz="4400" kern="1200">
          <a:solidFill>
            <a:schemeClr val="tx1"/>
          </a:solidFill>
          <a:latin typeface="Calibri Light" pitchFamily="0" charset="0"/>
          <a:ea typeface="等线 Light" pitchFamily="0" charset="0"/>
          <a:cs typeface="Calibri Light" pitchFamily="0" charset="0"/>
        </a:defRPr>
      </a:lvl1pPr>
    </p:titleStyle>
    <p:bodyStyle>
      <a:lvl1pPr marL="228600" indent="-228600" algn="l" defTabSz="914400" eaLnBrk="1" fontAlgn="auto" latinLnBrk="0" hangingPunct="1">
        <a:lnSpc>
          <a:spcPct val="90000"/>
        </a:lnSpc>
        <a:spcBef>
          <a:spcPts val="1000"/>
        </a:spcBef>
        <a:buFont typeface="Arial" pitchFamily="34" charset="0"/>
        <a:buChar char="•"/>
        <a:defRPr sz="2800" kern="1200">
          <a:solidFill>
            <a:schemeClr val="tx1"/>
          </a:solidFill>
          <a:latin typeface="Calibri" pitchFamily="0" charset="0"/>
          <a:ea typeface="等线" pitchFamily="0" charset="0"/>
          <a:cs typeface="Calibri" pitchFamily="0" charset="0"/>
        </a:defRPr>
      </a:lvl1pPr>
      <a:lvl2pPr marL="685800" indent="-228600" algn="l" defTabSz="914400" eaLnBrk="1" fontAlgn="auto" latinLnBrk="0" hangingPunct="1">
        <a:lnSpc>
          <a:spcPct val="90000"/>
        </a:lnSpc>
        <a:spcBef>
          <a:spcPts val="500"/>
        </a:spcBef>
        <a:buFont typeface="Arial" pitchFamily="34" charset="0"/>
        <a:buChar char="•"/>
        <a:defRPr sz="24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lnSpc>
          <a:spcPct val="90000"/>
        </a:lnSpc>
        <a:spcBef>
          <a:spcPts val="500"/>
        </a:spcBef>
        <a:buFont typeface="Arial" pitchFamily="34" charset="0"/>
        <a:buChar char="•"/>
        <a:defRPr sz="20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Straight line"/>
          <p:cNvSpPr>
            <a:spLocks/>
          </p:cNvSpPr>
          <p:nvPr/>
        </p:nvSpPr>
        <p:spPr>
          <a:xfrm rot="0">
            <a:off x="1447800" y="7763317"/>
            <a:ext cx="1077509" cy="0"/>
          </a:xfrm>
          <a:prstGeom prst="line"/>
          <a:noFill/>
          <a:ln w="95250" cmpd="sng" cap="flat">
            <a:solidFill>
              <a:srgbClr val="FF5347"/>
            </a:solidFill>
            <a:prstDash val="solid"/>
            <a:round/>
          </a:ln>
        </p:spPr>
      </p:sp>
      <p:sp>
        <p:nvSpPr>
          <p:cNvPr id="13" name="Rectangle"/>
          <p:cNvSpPr>
            <a:spLocks/>
          </p:cNvSpPr>
          <p:nvPr/>
        </p:nvSpPr>
        <p:spPr>
          <a:xfrm rot="0">
            <a:off x="8930406" y="5766248"/>
            <a:ext cx="3941410" cy="71119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5600"/>
              </a:lnSpc>
              <a:spcBef>
                <a:spcPts val="0"/>
              </a:spcBef>
              <a:spcAft>
                <a:spcPts val="0"/>
              </a:spcAft>
              <a:buNone/>
            </a:pPr>
            <a:r>
              <a:rPr lang="en-US" altLang="zh-CN" sz="2000" b="1" i="0" u="none" strike="noStrike" kern="1200" cap="none" spc="20" baseline="0">
                <a:solidFill>
                  <a:srgbClr val="000000"/>
                </a:solidFill>
                <a:latin typeface="Times New Roman MT Bold" pitchFamily="0" charset="0"/>
                <a:ea typeface="Times New Roman MT Bold" pitchFamily="0" charset="0"/>
                <a:cs typeface="Times New Roman MT Bold" pitchFamily="0" charset="0"/>
                <a:sym typeface="Times New Roman MT Bold" pitchFamily="0" charset="0"/>
              </a:rPr>
              <a:t>REVIEW NO. - 0</a:t>
            </a:r>
            <a:endParaRPr lang="zh-CN" altLang="en-US" sz="2000" b="1" i="0" u="none" strike="noStrike" kern="1200" cap="none" spc="20" baseline="0">
              <a:solidFill>
                <a:srgbClr val="000000"/>
              </a:solidFill>
              <a:latin typeface="Times New Roman MT Bold" pitchFamily="0" charset="0"/>
              <a:ea typeface="Times New Roman MT Bold" pitchFamily="0" charset="0"/>
              <a:cs typeface="Times New Roman MT Bold" pitchFamily="0" charset="0"/>
              <a:sym typeface="Times New Roman MT Bold" pitchFamily="0" charset="0"/>
            </a:endParaRPr>
          </a:p>
        </p:txBody>
      </p:sp>
      <p:sp>
        <p:nvSpPr>
          <p:cNvPr id="14" name="Rectangle"/>
          <p:cNvSpPr>
            <a:spLocks/>
          </p:cNvSpPr>
          <p:nvPr/>
        </p:nvSpPr>
        <p:spPr>
          <a:xfrm rot="0">
            <a:off x="2054977" y="848527"/>
            <a:ext cx="7789437" cy="817880"/>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6440"/>
              </a:lnSpc>
              <a:spcBef>
                <a:spcPts val="0"/>
              </a:spcBef>
              <a:spcAft>
                <a:spcPts val="0"/>
              </a:spcAft>
              <a:buNone/>
            </a:pPr>
            <a:r>
              <a:rPr lang="en-US" altLang="zh-CN" sz="2800" b="1" i="0" u="none" strike="noStrike" kern="1200" cap="none" spc="23" baseline="0">
                <a:solidFill>
                  <a:srgbClr val="000000"/>
                </a:solidFill>
                <a:latin typeface="Times New Roman MT Bold" pitchFamily="0" charset="0"/>
                <a:ea typeface="Times New Roman MT Bold" pitchFamily="0" charset="0"/>
                <a:cs typeface="Times New Roman MT Bold" pitchFamily="0" charset="0"/>
                <a:sym typeface="Times New Roman MT Bold" pitchFamily="0" charset="0"/>
              </a:rPr>
              <a:t>INDIVIDUAL PROJECTS</a:t>
            </a:r>
            <a:endParaRPr lang="zh-CN" altLang="en-US" sz="2800" b="1" i="0" u="none" strike="noStrike" kern="1200" cap="none" spc="23" baseline="0">
              <a:solidFill>
                <a:srgbClr val="000000"/>
              </a:solidFill>
              <a:latin typeface="Times New Roman MT Bold" pitchFamily="0" charset="0"/>
              <a:ea typeface="Times New Roman MT Bold" pitchFamily="0" charset="0"/>
              <a:cs typeface="Times New Roman MT Bold" pitchFamily="0" charset="0"/>
              <a:sym typeface="Times New Roman MT Bold" pitchFamily="0" charset="0"/>
            </a:endParaRPr>
          </a:p>
        </p:txBody>
      </p:sp>
      <p:graphicFrame>
        <p:nvGraphicFramePr>
          <p:cNvPr id="15" name="Sheet"/>
          <p:cNvGraphicFramePr>
            <a:graphicFrameLocks noGrp="1"/>
          </p:cNvGraphicFramePr>
          <p:nvPr>
            <p:extLst>
              <p:ext uri="{D42A27DB-BD31-4B8C-83A1-F6EECF244321}"/>
            </p:extLst>
          </p:nvPr>
        </p:nvGraphicFramePr>
        <p:xfrm>
          <a:off x="1463040" y="2103120"/>
          <a:ext cx="8229600" cy="2743200"/>
        </p:xfrm>
        <a:graphic>
          <a:graphicData uri="http://schemas.openxmlformats.org/drawingml/2006/table">
            <a:tbl>
              <a:tblPr bandRow="1">
                <a:noFill/>
              </a:tblPr>
              <a:tblGrid>
                <a:gridCol w="3108921"/>
                <a:gridCol w="365721"/>
                <a:gridCol w="4754854"/>
              </a:tblGrid>
              <a:tr h="548622">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Name</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50800" marR="91440" marB="50800" vert="horz"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0" i="0" u="none" strike="noStrike" kern="0" cap="none" spc="0" baseline="0">
                          <a:solidFill>
                            <a:srgbClr val="333333"/>
                          </a:solidFill>
                          <a:latin typeface="Calibri" pitchFamily="0" charset="0"/>
                          <a:ea typeface="Droid Sans" pitchFamily="0" charset="0"/>
                          <a:cs typeface="Lucida Sans" pitchFamily="0" charset="0"/>
                        </a:rPr>
                        <a:t>T. Mukesh Varma</a:t>
                      </a:r>
                      <a:endParaRPr lang="zh-CN" altLang="en-US" sz="1600" b="0" i="0" u="none" strike="noStrike" kern="0" cap="none" spc="0" baseline="0">
                        <a:solidFill>
                          <a:srgbClr val="333333"/>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r>
              <a:tr h="548622">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Roll number</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50800" marR="91440" marB="50800" vert="horz"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0" i="0" u="none" strike="noStrike" kern="0" cap="none" spc="0" baseline="0">
                          <a:solidFill>
                            <a:srgbClr val="333333"/>
                          </a:solidFill>
                          <a:latin typeface="Calibri" pitchFamily="0" charset="0"/>
                          <a:ea typeface="Droid Sans" pitchFamily="0" charset="0"/>
                          <a:cs typeface="Lucida Sans" pitchFamily="0" charset="0"/>
                        </a:rPr>
                        <a:t>25MAS1004</a:t>
                      </a:r>
                      <a:endParaRPr lang="zh-CN" altLang="en-US" sz="1600" b="0" i="0" u="none" strike="noStrike" kern="0" cap="none" spc="0" baseline="0">
                        <a:solidFill>
                          <a:srgbClr val="333333"/>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r>
              <a:tr h="548622">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Registered email address</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50800" marR="91440" marB="50800" vert="horz"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0" i="0" u="none" strike="noStrike" kern="0" cap="none" spc="0" baseline="0">
                          <a:solidFill>
                            <a:srgbClr val="333333"/>
                          </a:solidFill>
                          <a:latin typeface="Calibri" pitchFamily="0" charset="0"/>
                          <a:ea typeface="Droid Sans" pitchFamily="0" charset="0"/>
                          <a:cs typeface="Lucida Sans" pitchFamily="0" charset="0"/>
                        </a:rPr>
                        <a:t>mukeshvarma2904@gmail.com</a:t>
                      </a:r>
                      <a:endParaRPr lang="zh-CN" altLang="en-US" sz="1600" b="0" i="0" u="none" strike="noStrike" kern="0" cap="none" spc="0" baseline="0">
                        <a:solidFill>
                          <a:srgbClr val="333333"/>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r>
              <a:tr h="548622">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Institution</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50800" marR="91440" marB="50800" vert="horz"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0" i="0" u="none" strike="noStrike" kern="0" cap="none" spc="0" baseline="0">
                          <a:solidFill>
                            <a:srgbClr val="333333"/>
                          </a:solidFill>
                          <a:latin typeface="Calibri" pitchFamily="0" charset="0"/>
                          <a:ea typeface="Droid Sans" pitchFamily="0" charset="0"/>
                          <a:cs typeface="Lucida Sans" pitchFamily="0" charset="0"/>
                        </a:rPr>
                        <a:t>VIT Chennai</a:t>
                      </a:r>
                      <a:endParaRPr lang="zh-CN" altLang="en-US" sz="1600" b="0" i="0" u="none" strike="noStrike" kern="0" cap="none" spc="0" baseline="0">
                        <a:solidFill>
                          <a:srgbClr val="333333"/>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r>
              <a:tr h="548622">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Course</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50800" marR="91440" marB="50800" vert="horz"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0" i="0" u="none" strike="noStrike" kern="0" cap="none" spc="0" baseline="0">
                          <a:solidFill>
                            <a:srgbClr val="333333"/>
                          </a:solidFill>
                          <a:latin typeface="Calibri" pitchFamily="0" charset="0"/>
                          <a:ea typeface="Droid Sans" pitchFamily="0" charset="0"/>
                          <a:cs typeface="Lucida Sans" pitchFamily="0" charset="0"/>
                        </a:rPr>
                        <a:t>M.Tech AI &amp; DS</a:t>
                      </a:r>
                      <a:endParaRPr lang="zh-CN" altLang="en-US" sz="1600" b="0" i="0" u="none" strike="noStrike" kern="0" cap="none" spc="0" baseline="0">
                        <a:solidFill>
                          <a:srgbClr val="333333"/>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r>
            </a:tbl>
          </a:graphicData>
        </a:graphic>
      </p:graphicFrame>
    </p:spTree>
    <p:extLst>
      <p:ext uri="{BB962C8B-B14F-4D97-AF65-F5344CB8AC3E}">
        <p14:creationId xmlns:p14="http://schemas.microsoft.com/office/powerpoint/2010/main" val="324412904"/>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body" idx="1"/>
          </p:nvPr>
        </p:nvSpPr>
        <p:spPr>
          <a:xfrm rot="0">
            <a:off x="640080" y="577516"/>
            <a:ext cx="11000232" cy="5599445"/>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90000"/>
              </a:lnSpc>
              <a:spcBef>
                <a:spcPts val="1000"/>
              </a:spcBef>
              <a:spcAft>
                <a:spcPts val="0"/>
              </a:spcAft>
              <a:buNone/>
            </a:pPr>
            <a:r>
              <a:rPr lang="en-US" altLang="zh-CN" sz="2000" b="1" i="0" u="none" strike="noStrike" kern="1200" cap="none" spc="0" baseline="0">
                <a:solidFill>
                  <a:srgbClr val="203864"/>
                </a:solidFill>
                <a:latin typeface="Calibri" pitchFamily="0" charset="0"/>
                <a:ea typeface="Calibri" pitchFamily="0" charset="0"/>
                <a:cs typeface="Calibri" pitchFamily="0" charset="0"/>
              </a:rPr>
              <a:t>1.</a:t>
            </a:r>
            <a:r>
              <a:rPr lang="en-US" altLang="zh-CN" sz="2000" b="1" i="0" u="none" strike="noStrike" kern="1200" cap="none" spc="0" baseline="0">
                <a:solidFill>
                  <a:srgbClr val="203864"/>
                </a:solidFill>
                <a:latin typeface="Calibri" pitchFamily="0" charset="0"/>
                <a:ea typeface="Calibri" pitchFamily="0" charset="0"/>
                <a:cs typeface="Calibri" pitchFamily="0" charset="0"/>
              </a:rPr>
              <a:t>MarketSentinel AI: Dual-Agent Market Manipulation Detection and Verification</a:t>
            </a:r>
            <a:endParaRPr lang="en-US" altLang="zh-CN" sz="2000" b="1" i="0" u="none" strike="noStrike" kern="1200" cap="none" spc="0" baseline="0">
              <a:solidFill>
                <a:srgbClr val="203864"/>
              </a:solidFill>
              <a:latin typeface="Calibri" pitchFamily="0" charset="0"/>
              <a:ea typeface="Calibri" pitchFamily="0" charset="0"/>
              <a:cs typeface="Calibri" pitchFamily="0" charset="0"/>
            </a:endParaRPr>
          </a:p>
          <a:p>
            <a:pPr marL="0" indent="0" algn="l">
              <a:lnSpc>
                <a:spcPct val="90000"/>
              </a:lnSpc>
              <a:spcBef>
                <a:spcPts val="1000"/>
              </a:spcBef>
              <a:spcAft>
                <a:spcPts val="0"/>
              </a:spcAft>
              <a:buNone/>
            </a:pPr>
            <a:r>
              <a:rPr lang="en-US" altLang="zh-CN" sz="1600" b="1" i="0" u="none" strike="noStrike" kern="1200" cap="none" spc="0" baseline="0">
                <a:solidFill>
                  <a:srgbClr val="203864"/>
                </a:solidFill>
                <a:latin typeface="Calibri" pitchFamily="0" charset="0"/>
                <a:ea typeface="Calibri" pitchFamily="0" charset="0"/>
                <a:cs typeface="Calibri" pitchFamily="0" charset="0"/>
              </a:rPr>
              <a:t>Problem Statement</a:t>
            </a:r>
            <a:endParaRPr lang="en-US" altLang="zh-CN" sz="1600" b="0" i="0" u="none" strike="noStrike" kern="1200" cap="none" spc="0" baseline="0">
              <a:solidFill>
                <a:srgbClr val="203864"/>
              </a:solidFill>
              <a:latin typeface="Calibri" pitchFamily="0" charset="0"/>
              <a:ea typeface="等线" pitchFamily="0" charset="0"/>
              <a:cs typeface="Lucida Sans" pitchFamily="0" charset="0"/>
            </a:endParaRPr>
          </a:p>
          <a:p>
            <a:pPr marL="228600" indent="-228600" algn="l">
              <a:lnSpc>
                <a:spcPct val="90000"/>
              </a:lnSpc>
              <a:spcBef>
                <a:spcPts val="1000"/>
              </a:spcBef>
              <a:spcAft>
                <a:spcPts val="0"/>
              </a:spcAft>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Coordinated groups hype low-liquidity stocks on social media to inflate price, then sell into the retail-driven spike before it collapses. This persists because thin order books let small coordinated buying move price sharply, social-media and market-surveillance signals are monitored separately so the correlation is rarely made in real time, and legitimate rallies produce the same surface signature — causing high false positives that make automated flagging untrustworthy today.</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0" indent="0" algn="l">
              <a:lnSpc>
                <a:spcPct val="90000"/>
              </a:lnSpc>
              <a:spcBef>
                <a:spcPts val="1000"/>
              </a:spcBef>
              <a:spcAft>
                <a:spcPts val="0"/>
              </a:spcAft>
              <a:buNone/>
            </a:pPr>
            <a:r>
              <a:rPr lang="en-US" altLang="zh-CN" sz="1600" b="1" i="0" u="none" strike="noStrike" kern="1200" cap="none" spc="0" baseline="0">
                <a:solidFill>
                  <a:srgbClr val="203864"/>
                </a:solidFill>
                <a:latin typeface="Calibri" pitchFamily="0" charset="0"/>
                <a:ea typeface="Calibri" pitchFamily="0" charset="0"/>
                <a:cs typeface="Calibri" pitchFamily="0" charset="0"/>
              </a:rPr>
              <a:t>Objectives</a:t>
            </a:r>
            <a:endParaRPr lang="en-US" altLang="zh-CN" sz="1600" b="1" i="0" u="none" strike="noStrike" kern="1200" cap="none" spc="0" baseline="0">
              <a:solidFill>
                <a:srgbClr val="203864"/>
              </a:solidFill>
              <a:latin typeface="Calibri" pitchFamily="0" charset="0"/>
              <a:ea typeface="Calibri" pitchFamily="0" charset="0"/>
              <a:cs typeface="Calibri"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Build a signal-fusion pipeline that computes rolling mention-volume/sentiment spikes (</a:t>
            </a:r>
            <a:r>
              <a:rPr lang="en-US" altLang="zh-CN" sz="1400" b="0" i="0" u="none" strike="noStrike" kern="1200" cap="none" spc="0" baseline="0">
                <a:solidFill>
                  <a:srgbClr val="222222"/>
                </a:solidFill>
                <a:latin typeface="Calibri" pitchFamily="0" charset="0"/>
                <a:ea typeface="Calibri" pitchFamily="0" charset="0"/>
                <a:cs typeface="Calibri" pitchFamily="0" charset="0"/>
              </a:rPr>
              <a:t>FinBERT</a:t>
            </a:r>
            <a:r>
              <a:rPr lang="en-US" altLang="zh-CN" sz="1400" b="0" i="0" u="none" strike="noStrike" kern="1200" cap="none" spc="0" baseline="0">
                <a:solidFill>
                  <a:srgbClr val="222222"/>
                </a:solidFill>
                <a:latin typeface="Calibri" pitchFamily="0" charset="0"/>
                <a:ea typeface="Calibri" pitchFamily="0" charset="0"/>
                <a:cs typeface="Calibri" pitchFamily="0" charset="0"/>
              </a:rPr>
              <a:t>) alongside price/volume anomaly features (volume z-score, lag-correlation, post-spike reversal), and scores candidate events with an </a:t>
            </a:r>
            <a:r>
              <a:rPr lang="en-US" altLang="zh-CN" sz="1400" b="0" i="0" u="none" strike="noStrike" kern="1200" cap="none" spc="0" baseline="0">
                <a:solidFill>
                  <a:srgbClr val="222222"/>
                </a:solidFill>
                <a:latin typeface="Calibri" pitchFamily="0" charset="0"/>
                <a:ea typeface="Calibri" pitchFamily="0" charset="0"/>
                <a:cs typeface="Calibri" pitchFamily="0" charset="0"/>
              </a:rPr>
              <a:t>XGBoost</a:t>
            </a:r>
            <a:r>
              <a:rPr lang="en-US" altLang="zh-CN" sz="1400" b="0" i="0" u="none" strike="noStrike" kern="1200" cap="none" spc="0" baseline="0">
                <a:solidFill>
                  <a:srgbClr val="222222"/>
                </a:solidFill>
                <a:latin typeface="Calibri" pitchFamily="0" charset="0"/>
                <a:ea typeface="Calibri" pitchFamily="0" charset="0"/>
                <a:cs typeface="Calibri" pitchFamily="0" charset="0"/>
              </a:rPr>
              <a:t>/</a:t>
            </a:r>
            <a:r>
              <a:rPr lang="en-US" altLang="zh-CN" sz="1400" b="0" i="0" u="none" strike="noStrike" kern="1200" cap="none" spc="0" baseline="0">
                <a:solidFill>
                  <a:srgbClr val="222222"/>
                </a:solidFill>
                <a:latin typeface="Calibri" pitchFamily="0" charset="0"/>
                <a:ea typeface="Calibri" pitchFamily="0" charset="0"/>
                <a:cs typeface="Calibri" pitchFamily="0" charset="0"/>
              </a:rPr>
              <a:t>LightGBM</a:t>
            </a:r>
            <a:r>
              <a:rPr lang="en-US" altLang="zh-CN" sz="1400" b="0" i="0" u="none" strike="noStrike" kern="1200" cap="none" spc="0" baseline="0">
                <a:solidFill>
                  <a:srgbClr val="222222"/>
                </a:solidFill>
                <a:latin typeface="Calibri" pitchFamily="0" charset="0"/>
                <a:ea typeface="Calibri" pitchFamily="0" charset="0"/>
                <a:cs typeface="Calibri" pitchFamily="0" charset="0"/>
              </a:rPr>
              <a:t> model.</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Validate detection quality against real, documented ground truth — SEC litigation releases naming actual manipulation cases — supplemented with synthetic injected cases for broader recall coverage, since real cases are few.</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Build a two-agent adversarial verification layer using </a:t>
            </a:r>
            <a:r>
              <a:rPr lang="en-US" altLang="zh-CN" sz="1400" b="0" i="0" u="none" strike="noStrike" kern="1200" cap="none" spc="0" baseline="0">
                <a:solidFill>
                  <a:srgbClr val="222222"/>
                </a:solidFill>
                <a:latin typeface="Calibri" pitchFamily="0" charset="0"/>
                <a:ea typeface="Calibri" pitchFamily="0" charset="0"/>
                <a:cs typeface="Calibri" pitchFamily="0" charset="0"/>
              </a:rPr>
              <a:t>LangGraph</a:t>
            </a:r>
            <a:r>
              <a:rPr lang="en-US" altLang="zh-CN" sz="1400" b="0" i="0" u="none" strike="noStrike" kern="1200" cap="none" spc="0" baseline="0">
                <a:solidFill>
                  <a:srgbClr val="222222"/>
                </a:solidFill>
                <a:latin typeface="Calibri" pitchFamily="0" charset="0"/>
                <a:ea typeface="Calibri" pitchFamily="0" charset="0"/>
                <a:cs typeface="Calibri" pitchFamily="0" charset="0"/>
              </a:rPr>
              <a:t>: a Prosecutor agent investigates and cites evidence (coordinated-posting patterns, timing clusters) for manipulation, while an independent Defense agent retrieves real news/SEC filings via RAG to search for a legitimate catalyst.</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Implement an adjudication step that combines both agents' evidence strength into a final verdict and confidence score, keeping both reports visible for auditability rather than hiding the disagreement.</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Quantify, with a measured comparison, how much the adversarial verification step reduces false positives versus a single-agent (prosecutor-only) baseline — this is the project's central, defensible claim.</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Deploy the complete pipeline (</a:t>
            </a:r>
            <a:r>
              <a:rPr lang="en-US" altLang="zh-CN" sz="1400" b="0" i="0" u="none" strike="noStrike" kern="1200" cap="none" spc="0" baseline="0">
                <a:solidFill>
                  <a:srgbClr val="222222"/>
                </a:solidFill>
                <a:latin typeface="Calibri" pitchFamily="0" charset="0"/>
                <a:ea typeface="Calibri" pitchFamily="0" charset="0"/>
                <a:cs typeface="Calibri" pitchFamily="0" charset="0"/>
              </a:rPr>
              <a:t>FastAPI</a:t>
            </a:r>
            <a:r>
              <a:rPr lang="en-US" altLang="zh-CN" sz="1400" b="0" i="0" u="none" strike="noStrike" kern="1200" cap="none" spc="0" baseline="0">
                <a:solidFill>
                  <a:srgbClr val="222222"/>
                </a:solidFill>
                <a:latin typeface="Calibri" pitchFamily="0" charset="0"/>
                <a:ea typeface="Calibri" pitchFamily="0" charset="0"/>
                <a:cs typeface="Calibri" pitchFamily="0" charset="0"/>
              </a:rPr>
              <a:t> backend + </a:t>
            </a:r>
            <a:r>
              <a:rPr lang="en-US" altLang="zh-CN" sz="1400" b="0" i="0" u="none" strike="noStrike" kern="1200" cap="none" spc="0" baseline="0">
                <a:solidFill>
                  <a:srgbClr val="222222"/>
                </a:solidFill>
                <a:latin typeface="Calibri" pitchFamily="0" charset="0"/>
                <a:ea typeface="Calibri" pitchFamily="0" charset="0"/>
                <a:cs typeface="Calibri" pitchFamily="0" charset="0"/>
              </a:rPr>
              <a:t>Streamlit</a:t>
            </a:r>
            <a:r>
              <a:rPr lang="en-US" altLang="zh-CN" sz="1400" b="0" i="0" u="none" strike="noStrike" kern="1200" cap="none" spc="0" baseline="0">
                <a:solidFill>
                  <a:srgbClr val="222222"/>
                </a:solidFill>
                <a:latin typeface="Calibri" pitchFamily="0" charset="0"/>
                <a:ea typeface="Calibri" pitchFamily="0" charset="0"/>
                <a:cs typeface="Calibri" pitchFamily="0" charset="0"/>
              </a:rPr>
              <a:t> dashboard) on Microsoft Azure Container Apps with GitHub Actions CI/CD.</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0" indent="0" algn="l">
              <a:lnSpc>
                <a:spcPct val="90000"/>
              </a:lnSpc>
              <a:spcBef>
                <a:spcPts val="1000"/>
              </a:spcBef>
              <a:spcAft>
                <a:spcPts val="0"/>
              </a:spcAft>
              <a:buNone/>
            </a:pPr>
            <a:endParaRPr lang="zh-CN" altLang="en-US" sz="2800" b="0" i="0" u="none" strike="noStrike" kern="1200" cap="none" spc="0" baseline="0">
              <a:solidFill>
                <a:schemeClr val="tx1"/>
              </a:solidFill>
              <a:latin typeface="Calibri" pitchFamily="0" charset="0"/>
              <a:ea typeface="等线" pitchFamily="0" charset="0"/>
              <a:cs typeface="Lucida Sans" pitchFamily="0" charset="0"/>
            </a:endParaRPr>
          </a:p>
        </p:txBody>
      </p:sp>
    </p:spTree>
    <p:extLst>
      <p:ext uri="{BB962C8B-B14F-4D97-AF65-F5344CB8AC3E}">
        <p14:creationId xmlns:p14="http://schemas.microsoft.com/office/powerpoint/2010/main" val="1795531897"/>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2" name="Text box"/>
          <p:cNvSpPr>
            <a:spLocks noGrp="1"/>
          </p:cNvSpPr>
          <p:nvPr>
            <p:ph type="body" idx="1"/>
          </p:nvPr>
        </p:nvSpPr>
        <p:spPr>
          <a:xfrm rot="0">
            <a:off x="603504" y="603504"/>
            <a:ext cx="10750295" cy="5573459"/>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90000"/>
              </a:lnSpc>
              <a:spcBef>
                <a:spcPts val="1000"/>
              </a:spcBef>
              <a:spcAft>
                <a:spcPts val="0"/>
              </a:spcAft>
              <a:buNone/>
            </a:pPr>
            <a:r>
              <a:rPr lang="en-US" altLang="zh-CN" sz="1600" b="1" i="0" u="none" strike="noStrike" kern="1200" cap="none" spc="0" baseline="0">
                <a:solidFill>
                  <a:srgbClr val="4A1942"/>
                </a:solidFill>
                <a:latin typeface="Calibri" pitchFamily="0" charset="0"/>
                <a:ea typeface="Calibri" pitchFamily="0" charset="0"/>
                <a:cs typeface="Calibri" pitchFamily="0" charset="0"/>
              </a:rPr>
              <a:t>Dataset — Collection &amp; Relevance</a:t>
            </a:r>
            <a:endParaRPr lang="en-US" altLang="zh-CN" sz="1600" b="1" i="0" u="none" strike="noStrike" kern="1200" cap="none" spc="0" baseline="0">
              <a:solidFill>
                <a:srgbClr val="4A1942"/>
              </a:solidFill>
              <a:latin typeface="Calibri" pitchFamily="0" charset="0"/>
              <a:ea typeface="Calibri" pitchFamily="0" charset="0"/>
              <a:cs typeface="Calibri"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Reddit/WSB posts — collected via existing public Kaggle datasets (e.g., </a:t>
            </a:r>
            <a:r>
              <a:rPr lang="en-US" altLang="zh-CN" sz="1400" b="0" i="0" u="none" strike="noStrike" kern="1200" cap="none" spc="0" baseline="0">
                <a:solidFill>
                  <a:srgbClr val="222222"/>
                </a:solidFill>
                <a:latin typeface="Calibri" pitchFamily="0" charset="0"/>
                <a:ea typeface="Calibri" pitchFamily="0" charset="0"/>
                <a:cs typeface="Calibri" pitchFamily="0" charset="0"/>
              </a:rPr>
              <a:t>gpreda</a:t>
            </a:r>
            <a:r>
              <a:rPr lang="en-US" altLang="zh-CN" sz="1400" b="0" i="0" u="none" strike="noStrike" kern="1200" cap="none" spc="0" baseline="0">
                <a:solidFill>
                  <a:srgbClr val="222222"/>
                </a:solidFill>
                <a:latin typeface="Calibri" pitchFamily="0" charset="0"/>
                <a:ea typeface="Calibri" pitchFamily="0" charset="0"/>
                <a:cs typeface="Calibri" pitchFamily="0" charset="0"/>
              </a:rPr>
              <a:t>/</a:t>
            </a:r>
            <a:r>
              <a:rPr lang="en-US" altLang="zh-CN" sz="1400" b="0" i="0" u="none" strike="noStrike" kern="1200" cap="none" spc="0" baseline="0">
                <a:solidFill>
                  <a:srgbClr val="222222"/>
                </a:solidFill>
                <a:latin typeface="Calibri" pitchFamily="0" charset="0"/>
                <a:ea typeface="Calibri" pitchFamily="0" charset="0"/>
                <a:cs typeface="Calibri" pitchFamily="0" charset="0"/>
              </a:rPr>
              <a:t>reddi</a:t>
            </a:r>
            <a:r>
              <a:rPr lang="en-US" altLang="zh-CN" sz="1400" b="0" i="0" u="none" strike="noStrike" kern="1200" cap="none" spc="0" baseline="0">
                <a:solidFill>
                  <a:srgbClr val="222222"/>
                </a:solidFill>
                <a:latin typeface="Calibri" pitchFamily="0" charset="0"/>
                <a:ea typeface="Calibri" pitchFamily="0" charset="0"/>
                <a:cs typeface="Calibri" pitchFamily="0" charset="0"/>
              </a:rPr>
              <a:t>-</a:t>
            </a:r>
            <a:r>
              <a:rPr lang="en-US" altLang="zh-CN" sz="1400" b="0" i="0" u="none" strike="noStrike" kern="1200" cap="none" spc="0" baseline="0">
                <a:solidFill>
                  <a:srgbClr val="222222"/>
                </a:solidFill>
                <a:latin typeface="Calibri" pitchFamily="0" charset="0"/>
                <a:ea typeface="Calibri" pitchFamily="0" charset="0"/>
                <a:cs typeface="Calibri" pitchFamily="0" charset="0"/>
              </a:rPr>
              <a:t>wallstreetsbets</a:t>
            </a:r>
            <a:r>
              <a:rPr lang="en-US" altLang="zh-CN" sz="1400" b="0" i="0" u="none" strike="noStrike" kern="1200" cap="none" spc="0" baseline="0">
                <a:solidFill>
                  <a:srgbClr val="222222"/>
                </a:solidFill>
                <a:latin typeface="Calibri" pitchFamily="0" charset="0"/>
                <a:ea typeface="Calibri" pitchFamily="0" charset="0"/>
                <a:cs typeface="Calibri" pitchFamily="0" charset="0"/>
              </a:rPr>
              <a:t>-posts), no scraping needed; gives real hype/mention signal.</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Price &amp; volume data — collected via </a:t>
            </a:r>
            <a:r>
              <a:rPr lang="en-US" altLang="zh-CN" sz="1400" b="0" i="0" u="none" strike="noStrike" kern="1200" cap="none" spc="0" baseline="0">
                <a:solidFill>
                  <a:srgbClr val="222222"/>
                </a:solidFill>
                <a:latin typeface="Calibri" pitchFamily="0" charset="0"/>
                <a:ea typeface="Calibri" pitchFamily="0" charset="0"/>
                <a:cs typeface="Calibri" pitchFamily="0" charset="0"/>
              </a:rPr>
              <a:t>yfinance</a:t>
            </a:r>
            <a:r>
              <a:rPr lang="en-US" altLang="zh-CN" sz="1400" b="0" i="0" u="none" strike="noStrike" kern="1200" cap="none" spc="0" baseline="0">
                <a:solidFill>
                  <a:srgbClr val="222222"/>
                </a:solidFill>
                <a:latin typeface="Calibri" pitchFamily="0" charset="0"/>
                <a:ea typeface="Calibri" pitchFamily="0" charset="0"/>
                <a:cs typeface="Calibri" pitchFamily="0" charset="0"/>
              </a:rPr>
              <a:t>/Alpha Vantage for tickers appearing in the posts; gives the market-side anomaly signal to correlate against.</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News, SEC filings &amp; litigation releases — collected via SEC EDGAR and </a:t>
            </a:r>
            <a:r>
              <a:rPr lang="en-US" altLang="zh-CN" sz="1400" b="0" i="0" u="none" strike="noStrike" kern="1200" cap="none" spc="0" baseline="0">
                <a:solidFill>
                  <a:srgbClr val="222222"/>
                </a:solidFill>
                <a:latin typeface="Calibri" pitchFamily="0" charset="0"/>
                <a:ea typeface="Calibri" pitchFamily="0" charset="0"/>
                <a:cs typeface="Calibri" pitchFamily="0" charset="0"/>
              </a:rPr>
              <a:t>NewsAPI</a:t>
            </a:r>
            <a:r>
              <a:rPr lang="en-US" altLang="zh-CN" sz="1400" b="0" i="0" u="none" strike="noStrike" kern="1200" cap="none" spc="0" baseline="0">
                <a:solidFill>
                  <a:srgbClr val="222222"/>
                </a:solidFill>
                <a:latin typeface="Calibri" pitchFamily="0" charset="0"/>
                <a:ea typeface="Calibri" pitchFamily="0" charset="0"/>
                <a:cs typeface="Calibri" pitchFamily="0" charset="0"/>
              </a:rPr>
              <a:t>; used as the Defense agent's grounding evidence and as real ground truth for evaluation.</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Relevance: every source maps directly to an objective — posts drive detection, price data confirms the anomaly, filings/news ground the verification step.</a:t>
            </a:r>
            <a:endParaRPr lang="zh-CN" altLang="en-US" sz="1400" b="0" i="0" u="none" strike="noStrike" kern="1200" cap="none" spc="0" baseline="0">
              <a:solidFill>
                <a:srgbClr val="222222"/>
              </a:solidFill>
              <a:latin typeface="Calibri" pitchFamily="0" charset="0"/>
              <a:ea typeface="Calibri" pitchFamily="0" charset="0"/>
              <a:cs typeface="Calibri" pitchFamily="0" charset="0"/>
            </a:endParaRPr>
          </a:p>
        </p:txBody>
      </p:sp>
      <p:sp>
        <p:nvSpPr>
          <p:cNvPr id="23" name="Rectangle"/>
          <p:cNvSpPr>
            <a:spLocks/>
          </p:cNvSpPr>
          <p:nvPr/>
        </p:nvSpPr>
        <p:spPr>
          <a:xfrm rot="0">
            <a:off x="704846" y="3425197"/>
            <a:ext cx="5394960" cy="2272664"/>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600"/>
              </a:spcBef>
              <a:spcAft>
                <a:spcPts val="0"/>
              </a:spcAft>
              <a:buNone/>
            </a:pPr>
            <a:r>
              <a:rPr lang="en-US" altLang="zh-CN" sz="1600" b="1" i="0" u="none" strike="noStrike" kern="1200" cap="none" spc="0" baseline="0">
                <a:solidFill>
                  <a:srgbClr val="4A1942"/>
                </a:solidFill>
                <a:latin typeface="Calibri" pitchFamily="0" charset="0"/>
                <a:ea typeface="宋体" pitchFamily="0" charset="0"/>
                <a:cs typeface="Droid Sans" pitchFamily="0" charset="0"/>
              </a:rPr>
              <a:t>Technical Stack</a:t>
            </a:r>
            <a:endParaRPr lang="en-US" altLang="zh-CN" sz="1600" b="1" i="0" u="none" strike="noStrike" kern="1200" cap="none" spc="0" baseline="0">
              <a:solidFill>
                <a:srgbClr val="4A194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FinBERT (sentiment)</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XGBoost / LightGBM (anomaly scoring)</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LangGraph (agent orchestration)</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ChromaDB / FAISS + Sentence Transformers (RAG)</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FastAPI + Streamlit</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Docker + Azure Container Apps + GitHub Actions CI/CD</a:t>
            </a:r>
            <a:endParaRPr lang="zh-CN" altLang="en-US" sz="1250" b="0" i="0" u="none" strike="noStrike" kern="1200" cap="none" spc="0" baseline="0">
              <a:solidFill>
                <a:srgbClr val="222222"/>
              </a:solidFill>
              <a:latin typeface="Calibri" pitchFamily="0" charset="0"/>
              <a:ea typeface="宋体" pitchFamily="0" charset="0"/>
              <a:cs typeface="Droid Sans" pitchFamily="0" charset="0"/>
            </a:endParaRPr>
          </a:p>
        </p:txBody>
      </p:sp>
      <p:sp>
        <p:nvSpPr>
          <p:cNvPr id="24" name="Rectangle"/>
          <p:cNvSpPr>
            <a:spLocks/>
          </p:cNvSpPr>
          <p:nvPr/>
        </p:nvSpPr>
        <p:spPr>
          <a:xfrm rot="0">
            <a:off x="6099809" y="3425197"/>
            <a:ext cx="5669279" cy="192976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600"/>
              </a:spcBef>
              <a:spcAft>
                <a:spcPts val="0"/>
              </a:spcAft>
              <a:buNone/>
            </a:pPr>
            <a:r>
              <a:rPr lang="en-US" altLang="zh-CN" sz="1600" b="1" i="0" u="none" strike="noStrike" kern="1200" cap="none" spc="0" baseline="0">
                <a:solidFill>
                  <a:srgbClr val="4A1942"/>
                </a:solidFill>
                <a:latin typeface="Calibri" pitchFamily="0" charset="0"/>
                <a:ea typeface="宋体" pitchFamily="0" charset="0"/>
                <a:cs typeface="Droid Sans" pitchFamily="0" charset="0"/>
              </a:rPr>
              <a:t>Expected Outcomes</a:t>
            </a:r>
            <a:endParaRPr lang="en-US" altLang="zh-CN" sz="1600" b="1" i="0" u="none" strike="noStrike" kern="1200" cap="none" spc="0" baseline="0">
              <a:solidFill>
                <a:srgbClr val="4A194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working pipeline that flags candidate manipulation events from real data.</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Measured reduction in false positives from the adversarial verification step vs. a single-agent baseline.</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An auditable dashboard showing both agents' evidence and the final verdict.</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deployed, demoable system on Azure.</a:t>
            </a:r>
            <a:endParaRPr lang="zh-CN" altLang="en-US" sz="1250" b="0" i="0" u="none" strike="noStrike" kern="1200" cap="none" spc="0" baseline="0">
              <a:solidFill>
                <a:srgbClr val="222222"/>
              </a:solidFill>
              <a:latin typeface="Calibri" pitchFamily="0" charset="0"/>
              <a:ea typeface="宋体" pitchFamily="0" charset="0"/>
              <a:cs typeface="Droid Sans" pitchFamily="0" charset="0"/>
            </a:endParaRPr>
          </a:p>
        </p:txBody>
      </p:sp>
    </p:spTree>
    <p:extLst>
      <p:ext uri="{BB962C8B-B14F-4D97-AF65-F5344CB8AC3E}">
        <p14:creationId xmlns:p14="http://schemas.microsoft.com/office/powerpoint/2010/main" val="2034703037"/>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5" name="Text box"/>
          <p:cNvSpPr>
            <a:spLocks noGrp="1"/>
          </p:cNvSpPr>
          <p:nvPr>
            <p:ph type="body" idx="1"/>
          </p:nvPr>
        </p:nvSpPr>
        <p:spPr>
          <a:xfrm rot="0">
            <a:off x="539496" y="484631"/>
            <a:ext cx="11192256" cy="6053325"/>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79000"/>
              </a:lnSpc>
              <a:spcBef>
                <a:spcPts val="1000"/>
              </a:spcBef>
              <a:spcAft>
                <a:spcPts val="0"/>
              </a:spcAft>
              <a:buNone/>
            </a:pPr>
            <a:r>
              <a:rPr lang="en-US" altLang="zh-CN" sz="1800" b="1" i="0" u="none" strike="noStrike" kern="1200" cap="none" spc="0" baseline="0">
                <a:solidFill>
                  <a:srgbClr val="2F5597"/>
                </a:solidFill>
                <a:latin typeface="Calibri" pitchFamily="0" charset="0"/>
                <a:ea typeface="Calibri" pitchFamily="0" charset="0"/>
                <a:cs typeface="Calibri" pitchFamily="0" charset="0"/>
              </a:rPr>
              <a:t>2.NetPulse </a:t>
            </a:r>
            <a:r>
              <a:rPr lang="en-US" altLang="zh-CN" sz="1800" b="1" i="0" u="none" strike="noStrike" kern="1200" cap="none" spc="0" baseline="0">
                <a:solidFill>
                  <a:srgbClr val="2F5597"/>
                </a:solidFill>
                <a:latin typeface="Calibri" pitchFamily="0" charset="0"/>
                <a:ea typeface="Calibri" pitchFamily="0" charset="0"/>
                <a:cs typeface="Calibri" pitchFamily="0" charset="0"/>
              </a:rPr>
              <a:t>AI:Agentic</a:t>
            </a:r>
            <a:r>
              <a:rPr lang="en-US" altLang="zh-CN" sz="1800" b="1" i="0" u="none" strike="noStrike" kern="1200" cap="none" spc="0" baseline="0">
                <a:solidFill>
                  <a:srgbClr val="2F5597"/>
                </a:solidFill>
                <a:latin typeface="Calibri" pitchFamily="0" charset="0"/>
                <a:ea typeface="Calibri" pitchFamily="0" charset="0"/>
                <a:cs typeface="Calibri" pitchFamily="0" charset="0"/>
              </a:rPr>
              <a:t> Network Capacity Forecasting &amp; Optimization Platform</a:t>
            </a:r>
            <a:endParaRPr lang="en-US" altLang="zh-CN" sz="1800" b="1" i="0" u="none" strike="noStrike" kern="1200" cap="none" spc="0" baseline="0">
              <a:solidFill>
                <a:srgbClr val="2F5597"/>
              </a:solidFill>
              <a:latin typeface="Calibri" pitchFamily="0" charset="0"/>
              <a:ea typeface="Calibri" pitchFamily="0" charset="0"/>
              <a:cs typeface="Calibri" pitchFamily="0" charset="0"/>
            </a:endParaRPr>
          </a:p>
          <a:p>
            <a:pPr marL="0" indent="0" algn="l">
              <a:lnSpc>
                <a:spcPct val="79000"/>
              </a:lnSpc>
              <a:spcBef>
                <a:spcPts val="1000"/>
              </a:spcBef>
              <a:spcAft>
                <a:spcPts val="0"/>
              </a:spcAft>
              <a:buNone/>
            </a:pPr>
            <a:r>
              <a:rPr lang="en-US" altLang="zh-CN" sz="1600" b="1" i="0" u="none" strike="noStrike" kern="1200" cap="none" spc="0" baseline="0">
                <a:solidFill>
                  <a:srgbClr val="0B4F6C"/>
                </a:solidFill>
                <a:latin typeface="Calibri" pitchFamily="0" charset="0"/>
                <a:ea typeface="Calibri" pitchFamily="0" charset="0"/>
                <a:cs typeface="Calibri" pitchFamily="0" charset="0"/>
              </a:rPr>
              <a:t>Problem Statement</a:t>
            </a:r>
            <a:endParaRPr lang="en-US" altLang="zh-CN" sz="1600" b="1" i="0" u="none" strike="noStrike" kern="1200" cap="none" spc="0" baseline="0">
              <a:solidFill>
                <a:srgbClr val="0B4F6C"/>
              </a:solidFill>
              <a:latin typeface="Calibri" pitchFamily="0" charset="0"/>
              <a:ea typeface="Calibri" pitchFamily="0" charset="0"/>
              <a:cs typeface="Calibri" pitchFamily="0" charset="0"/>
            </a:endParaRPr>
          </a:p>
          <a:p>
            <a:pPr marL="228600" indent="-228600" algn="l">
              <a:lnSpc>
                <a:spcPct val="79000"/>
              </a:lnSpc>
              <a:spcBef>
                <a:spcPts val="1000"/>
              </a:spcBef>
              <a:spcAft>
                <a:spcPts val="0"/>
              </a:spcAft>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Network congestion builds up at specific towers at specific times, but operators typically only find out once customers already notice slow data or dropped calls. This happens because most monitoring shows current load, not what's about to happen next; and even when a problem is predicted, fixing it means solving a real optimization problem — how much capacity to move from a nearby tower without overloading it — which is slow and error-prone to do manually.</a:t>
            </a:r>
            <a:endParaRPr lang="en-US" altLang="zh-CN" sz="1500" b="0" i="0" u="none" strike="noStrike" kern="1200" cap="none" spc="0" baseline="0">
              <a:solidFill>
                <a:srgbClr val="222222"/>
              </a:solidFill>
              <a:latin typeface="Calibri" pitchFamily="0" charset="0"/>
              <a:ea typeface="Calibri" pitchFamily="0" charset="0"/>
              <a:cs typeface="Calibri" pitchFamily="0" charset="0"/>
            </a:endParaRPr>
          </a:p>
          <a:p>
            <a:pPr marL="0" indent="0" algn="l">
              <a:lnSpc>
                <a:spcPct val="79000"/>
              </a:lnSpc>
              <a:spcBef>
                <a:spcPts val="1000"/>
              </a:spcBef>
              <a:spcAft>
                <a:spcPts val="0"/>
              </a:spcAft>
              <a:buNone/>
            </a:pPr>
            <a:r>
              <a:rPr lang="en-US" altLang="zh-CN" sz="1600" b="1" i="0" u="none" strike="noStrike" kern="1200" cap="none" spc="0" baseline="0">
                <a:solidFill>
                  <a:srgbClr val="0B4F6C"/>
                </a:solidFill>
                <a:latin typeface="Calibri" pitchFamily="0" charset="0"/>
                <a:ea typeface="Calibri" pitchFamily="0" charset="0"/>
                <a:cs typeface="Calibri" pitchFamily="0" charset="0"/>
              </a:rPr>
              <a:t>Objectives</a:t>
            </a:r>
            <a:endParaRPr lang="en-US" altLang="zh-CN" sz="16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Build a per-cell short-horizon (1-4 hour) load forecasting model (</a:t>
            </a:r>
            <a:r>
              <a:rPr lang="en-US" altLang="zh-CN" sz="1500" b="0" i="0" u="none" strike="noStrike" kern="1200" cap="none" spc="0" baseline="0">
                <a:solidFill>
                  <a:srgbClr val="222222"/>
                </a:solidFill>
                <a:latin typeface="Calibri" pitchFamily="0" charset="0"/>
                <a:ea typeface="Calibri" pitchFamily="0" charset="0"/>
                <a:cs typeface="Calibri" pitchFamily="0" charset="0"/>
              </a:rPr>
              <a:t>LightGBM</a:t>
            </a:r>
            <a:r>
              <a:rPr lang="en-US" altLang="zh-CN" sz="1500" b="0" i="0" u="none" strike="noStrike" kern="1200" cap="none" spc="0" baseline="0">
                <a:solidFill>
                  <a:srgbClr val="222222"/>
                </a:solidFill>
                <a:latin typeface="Calibri" pitchFamily="0" charset="0"/>
                <a:ea typeface="Calibri" pitchFamily="0" charset="0"/>
                <a:cs typeface="Calibri" pitchFamily="0" charset="0"/>
              </a:rPr>
              <a:t> or </a:t>
            </a:r>
            <a:r>
              <a:rPr lang="en-US" altLang="zh-CN" sz="1500" b="0" i="0" u="none" strike="noStrike" kern="1200" cap="none" spc="0" baseline="0">
                <a:solidFill>
                  <a:srgbClr val="222222"/>
                </a:solidFill>
                <a:latin typeface="Calibri" pitchFamily="0" charset="0"/>
                <a:ea typeface="Calibri" pitchFamily="0" charset="0"/>
                <a:cs typeface="Calibri" pitchFamily="0" charset="0"/>
              </a:rPr>
              <a:t>PatchTST</a:t>
            </a:r>
            <a:r>
              <a:rPr lang="en-US" altLang="zh-CN" sz="1500" b="0" i="0" u="none" strike="noStrike" kern="1200" cap="none" spc="0" baseline="0">
                <a:solidFill>
                  <a:srgbClr val="222222"/>
                </a:solidFill>
                <a:latin typeface="Calibri" pitchFamily="0" charset="0"/>
                <a:ea typeface="Calibri" pitchFamily="0" charset="0"/>
                <a:cs typeface="Calibri" pitchFamily="0" charset="0"/>
              </a:rPr>
              <a:t>) on real Milan CDR activity data, and validate it beats a seasonal-naive baseline on MAE/MAPE.</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Define per-cell (not global) congestion-risk thresholds from historical percentiles, since 'busy' means different things in different grid cells across the city.</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Build a </a:t>
            </a:r>
            <a:r>
              <a:rPr lang="en-US" altLang="zh-CN" sz="1500" b="0" i="0" u="none" strike="noStrike" kern="1200" cap="none" spc="0" baseline="0">
                <a:solidFill>
                  <a:srgbClr val="222222"/>
                </a:solidFill>
                <a:latin typeface="Calibri" pitchFamily="0" charset="0"/>
                <a:ea typeface="Calibri" pitchFamily="0" charset="0"/>
                <a:cs typeface="Calibri" pitchFamily="0" charset="0"/>
              </a:rPr>
              <a:t>LangGraph</a:t>
            </a:r>
            <a:r>
              <a:rPr lang="en-US" altLang="zh-CN" sz="1500" b="0" i="0" u="none" strike="noStrike" kern="1200" cap="none" spc="0" baseline="0">
                <a:solidFill>
                  <a:srgbClr val="222222"/>
                </a:solidFill>
                <a:latin typeface="Calibri" pitchFamily="0" charset="0"/>
                <a:ea typeface="Calibri" pitchFamily="0" charset="0"/>
                <a:cs typeface="Calibri" pitchFamily="0" charset="0"/>
              </a:rPr>
              <a:t> diagnosis agent that classifies a flagged spike as routine or anomalous by correlating neighboring cells' forecasts (localized vs. city-wide surge) and cross-referencing a real Milan public event/holiday calendar.</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For routine, high-confidence cases, formulate reallocation as a constrained linear-programming problem and solve it with Google OR-Tools — computing the exact feasible capacity shift from neighboring cells, never letting the LLM invent the numbers.</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Escalate genuinely anomalous cases to a human operator with a full diagnosis report instead of taking an automatic action.</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Validate the reallocation's real-world benefit via counterfactual simulation: apply the solver's recommendation to real historical congestion events and measure how much excess load would have been resolved versus a do-nothing baseline.</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Deploy the complete pipeline (</a:t>
            </a:r>
            <a:r>
              <a:rPr lang="en-US" altLang="zh-CN" sz="1500" b="0" i="0" u="none" strike="noStrike" kern="1200" cap="none" spc="0" baseline="0">
                <a:solidFill>
                  <a:srgbClr val="222222"/>
                </a:solidFill>
                <a:latin typeface="Calibri" pitchFamily="0" charset="0"/>
                <a:ea typeface="Calibri" pitchFamily="0" charset="0"/>
                <a:cs typeface="Calibri" pitchFamily="0" charset="0"/>
              </a:rPr>
              <a:t>FastAPI</a:t>
            </a:r>
            <a:r>
              <a:rPr lang="en-US" altLang="zh-CN" sz="1500" b="0" i="0" u="none" strike="noStrike" kern="1200" cap="none" spc="0" baseline="0">
                <a:solidFill>
                  <a:srgbClr val="222222"/>
                </a:solidFill>
                <a:latin typeface="Calibri" pitchFamily="0" charset="0"/>
                <a:ea typeface="Calibri" pitchFamily="0" charset="0"/>
                <a:cs typeface="Calibri" pitchFamily="0" charset="0"/>
              </a:rPr>
              <a:t> backend + </a:t>
            </a:r>
            <a:r>
              <a:rPr lang="en-US" altLang="zh-CN" sz="1500" b="0" i="0" u="none" strike="noStrike" kern="1200" cap="none" spc="0" baseline="0">
                <a:solidFill>
                  <a:srgbClr val="222222"/>
                </a:solidFill>
                <a:latin typeface="Calibri" pitchFamily="0" charset="0"/>
                <a:ea typeface="Calibri" pitchFamily="0" charset="0"/>
                <a:cs typeface="Calibri" pitchFamily="0" charset="0"/>
              </a:rPr>
              <a:t>Streamlit</a:t>
            </a:r>
            <a:r>
              <a:rPr lang="en-US" altLang="zh-CN" sz="1500" b="0" i="0" u="none" strike="noStrike" kern="1200" cap="none" spc="0" baseline="0">
                <a:solidFill>
                  <a:srgbClr val="222222"/>
                </a:solidFill>
                <a:latin typeface="Calibri" pitchFamily="0" charset="0"/>
                <a:ea typeface="Calibri" pitchFamily="0" charset="0"/>
                <a:cs typeface="Calibri" pitchFamily="0" charset="0"/>
              </a:rPr>
              <a:t>/</a:t>
            </a:r>
            <a:r>
              <a:rPr lang="en-US" altLang="zh-CN" sz="1500" b="0" i="0" u="none" strike="noStrike" kern="1200" cap="none" spc="0" baseline="0">
                <a:solidFill>
                  <a:srgbClr val="222222"/>
                </a:solidFill>
                <a:latin typeface="Calibri" pitchFamily="0" charset="0"/>
                <a:ea typeface="Calibri" pitchFamily="0" charset="0"/>
                <a:cs typeface="Calibri" pitchFamily="0" charset="0"/>
              </a:rPr>
              <a:t>Plotly</a:t>
            </a:r>
            <a:r>
              <a:rPr lang="en-US" altLang="zh-CN" sz="1500" b="0" i="0" u="none" strike="noStrike" kern="1200" cap="none" spc="0" baseline="0">
                <a:solidFill>
                  <a:srgbClr val="222222"/>
                </a:solidFill>
                <a:latin typeface="Calibri" pitchFamily="0" charset="0"/>
                <a:ea typeface="Calibri" pitchFamily="0" charset="0"/>
                <a:cs typeface="Calibri" pitchFamily="0" charset="0"/>
              </a:rPr>
              <a:t> map dashboard) on Microsoft Azure Container Apps with GitHub Actions CI/CD.</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228600" indent="-228600" algn="l">
              <a:lnSpc>
                <a:spcPct val="79000"/>
              </a:lnSpc>
              <a:spcBef>
                <a:spcPts val="1000"/>
              </a:spcBef>
              <a:spcAft>
                <a:spcPts val="0"/>
              </a:spcAft>
              <a:buFont typeface="Arial" pitchFamily="34" charset="0"/>
              <a:buChar char="•"/>
            </a:pPr>
            <a:endParaRPr lang="en-US" altLang="zh-CN" sz="2600" b="0" i="0" u="none" strike="noStrike" kern="1200" cap="none" spc="0" baseline="0">
              <a:solidFill>
                <a:schemeClr val="tx1"/>
              </a:solidFill>
              <a:latin typeface="Calibri" pitchFamily="0" charset="0"/>
              <a:ea typeface="等线" pitchFamily="0" charset="0"/>
              <a:cs typeface="Lucida Sans" pitchFamily="0" charset="0"/>
            </a:endParaRPr>
          </a:p>
          <a:p>
            <a:pPr marL="0" indent="0" algn="l">
              <a:lnSpc>
                <a:spcPct val="79000"/>
              </a:lnSpc>
              <a:spcBef>
                <a:spcPts val="1000"/>
              </a:spcBef>
              <a:spcAft>
                <a:spcPts val="0"/>
              </a:spcAft>
              <a:buNone/>
            </a:pPr>
            <a:endParaRPr lang="zh-CN" altLang="en-US" sz="2600" b="0" i="0" u="none" strike="noStrike" kern="1200" cap="none" spc="0" baseline="0">
              <a:solidFill>
                <a:schemeClr val="tx1"/>
              </a:solidFill>
              <a:latin typeface="Calibri" pitchFamily="0" charset="0"/>
              <a:ea typeface="等线" pitchFamily="0" charset="0"/>
              <a:cs typeface="Lucida Sans" pitchFamily="0" charset="0"/>
            </a:endParaRPr>
          </a:p>
        </p:txBody>
      </p:sp>
    </p:spTree>
    <p:extLst>
      <p:ext uri="{BB962C8B-B14F-4D97-AF65-F5344CB8AC3E}">
        <p14:creationId xmlns:p14="http://schemas.microsoft.com/office/powerpoint/2010/main" val="2065248778"/>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6" name="Text box"/>
          <p:cNvSpPr>
            <a:spLocks noGrp="1"/>
          </p:cNvSpPr>
          <p:nvPr>
            <p:ph type="body" idx="1"/>
          </p:nvPr>
        </p:nvSpPr>
        <p:spPr>
          <a:xfrm rot="0">
            <a:off x="838200" y="625139"/>
            <a:ext cx="10515600" cy="5599445"/>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90000"/>
              </a:lnSpc>
              <a:spcBef>
                <a:spcPts val="1000"/>
              </a:spcBef>
              <a:spcAft>
                <a:spcPts val="0"/>
              </a:spcAft>
              <a:buNone/>
            </a:pPr>
            <a:r>
              <a:rPr lang="en-US" altLang="zh-CN" sz="1600" b="1" i="0" u="none" strike="noStrike" kern="1200" cap="none" spc="0" baseline="0">
                <a:solidFill>
                  <a:srgbClr val="0B4F6C"/>
                </a:solidFill>
                <a:latin typeface="Calibri" pitchFamily="0" charset="0"/>
                <a:ea typeface="Calibri" pitchFamily="0" charset="0"/>
                <a:cs typeface="Calibri" pitchFamily="0" charset="0"/>
              </a:rPr>
              <a:t>Dataset — Collection &amp; Relevance</a:t>
            </a:r>
            <a:endParaRPr lang="en-US" altLang="zh-CN" sz="16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Milano Grid CDR dataset — collected from the real, public Telecom Italia Big Data Challenge dataset (Kaggle); aggregated call/SMS/internet activity per grid cell, ~2 months.</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Milan public event/holiday calendar — collected from public civic calendars (automated via the Python holidays library for national holidays; local events curated manually where needed).</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Relevance: the CDR data directly drives the forecasting and thresholding objectives; the event calendar directly enables the routine-vs-anomaly diagnosis objective.</a:t>
            </a:r>
            <a:endParaRPr lang="zh-CN" altLang="en-US" sz="1400" b="0" i="0" u="none" strike="noStrike" kern="1200" cap="none" spc="0" baseline="0">
              <a:solidFill>
                <a:srgbClr val="222222"/>
              </a:solidFill>
              <a:latin typeface="Calibri" pitchFamily="0" charset="0"/>
              <a:ea typeface="Calibri" pitchFamily="0" charset="0"/>
              <a:cs typeface="Calibri" pitchFamily="0" charset="0"/>
            </a:endParaRPr>
          </a:p>
        </p:txBody>
      </p:sp>
      <p:sp>
        <p:nvSpPr>
          <p:cNvPr id="27" name="Rectangle"/>
          <p:cNvSpPr>
            <a:spLocks/>
          </p:cNvSpPr>
          <p:nvPr/>
        </p:nvSpPr>
        <p:spPr>
          <a:xfrm rot="0">
            <a:off x="838194" y="2853706"/>
            <a:ext cx="5394960" cy="200596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600"/>
              </a:spcBef>
              <a:spcAft>
                <a:spcPts val="0"/>
              </a:spcAft>
              <a:buNone/>
            </a:pPr>
            <a:r>
              <a:rPr lang="en-US" altLang="zh-CN" sz="1600" b="1" i="0" u="none" strike="noStrike" kern="1200" cap="none" spc="0" baseline="0">
                <a:solidFill>
                  <a:srgbClr val="0B4F6C"/>
                </a:solidFill>
                <a:latin typeface="Calibri" pitchFamily="0" charset="0"/>
                <a:ea typeface="宋体" pitchFamily="0" charset="0"/>
                <a:cs typeface="Droid Sans" pitchFamily="0" charset="0"/>
              </a:rPr>
              <a:t>Technical Stack</a:t>
            </a:r>
            <a:endParaRPr lang="en-US" altLang="zh-CN" sz="1600" b="1" i="0" u="none" strike="noStrike" kern="1200" cap="none" spc="0" baseline="0">
              <a:solidFill>
                <a:srgbClr val="0B4F6C"/>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LightGBM / PatchTST (forecasting)</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LangGraph (diagnosis agent)</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Google OR-Tools (constrained solver)</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FastAPI + Streamlit/Plotly (map dashboard)</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Docker + Azure Container Apps + GitHub Actions CI/CD</a:t>
            </a:r>
            <a:endParaRPr lang="zh-CN" altLang="en-US" sz="1250" b="0" i="0" u="none" strike="noStrike" kern="1200" cap="none" spc="0" baseline="0">
              <a:solidFill>
                <a:srgbClr val="222222"/>
              </a:solidFill>
              <a:latin typeface="Calibri" pitchFamily="0" charset="0"/>
              <a:ea typeface="宋体" pitchFamily="0" charset="0"/>
              <a:cs typeface="Droid Sans" pitchFamily="0" charset="0"/>
            </a:endParaRPr>
          </a:p>
        </p:txBody>
      </p:sp>
      <p:sp>
        <p:nvSpPr>
          <p:cNvPr id="28" name="Rectangle"/>
          <p:cNvSpPr>
            <a:spLocks/>
          </p:cNvSpPr>
          <p:nvPr/>
        </p:nvSpPr>
        <p:spPr>
          <a:xfrm rot="0">
            <a:off x="5680716" y="2853706"/>
            <a:ext cx="5669280" cy="2577464"/>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600"/>
              </a:spcBef>
              <a:spcAft>
                <a:spcPts val="0"/>
              </a:spcAft>
              <a:buNone/>
            </a:pPr>
            <a:r>
              <a:rPr lang="en-US" altLang="zh-CN" sz="1600" b="1" i="0" u="none" strike="noStrike" kern="1200" cap="none" spc="0" baseline="0">
                <a:solidFill>
                  <a:srgbClr val="0B4F6C"/>
                </a:solidFill>
                <a:latin typeface="Calibri" pitchFamily="0" charset="0"/>
                <a:ea typeface="宋体" pitchFamily="0" charset="0"/>
                <a:cs typeface="Droid Sans" pitchFamily="0" charset="0"/>
              </a:rPr>
              <a:t>Expected Outcomes</a:t>
            </a:r>
            <a:endParaRPr lang="en-US" altLang="zh-CN" sz="1600" b="1" i="0" u="none" strike="noStrike" kern="1200" cap="none" spc="0" baseline="0">
              <a:solidFill>
                <a:srgbClr val="0B4F6C"/>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per-cell forecasting model that beats a seasonal-naive baseline.</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diagnosis agent that reliably separates routine from anomalous congestion.</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Solver-generated, always-feasible reallocation recommendations for routine cases.</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measured congestion-reduction benefit from counterfactual simulation on real data.</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deployed, map-based demo dashboard on Azure.</a:t>
            </a:r>
            <a:endParaRPr lang="zh-CN" altLang="en-US" sz="1250" b="0" i="0" u="none" strike="noStrike" kern="1200" cap="none" spc="0" baseline="0">
              <a:solidFill>
                <a:srgbClr val="222222"/>
              </a:solidFill>
              <a:latin typeface="Calibri" pitchFamily="0" charset="0"/>
              <a:ea typeface="宋体" pitchFamily="0" charset="0"/>
              <a:cs typeface="Droid Sans" pitchFamily="0" charset="0"/>
            </a:endParaRPr>
          </a:p>
        </p:txBody>
      </p:sp>
    </p:spTree>
    <p:extLst>
      <p:ext uri="{BB962C8B-B14F-4D97-AF65-F5344CB8AC3E}">
        <p14:creationId xmlns:p14="http://schemas.microsoft.com/office/powerpoint/2010/main" val="1470254467"/>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106</TotalTime>
  <Application>Office</Application>
</Properties>
</file>

<file path=docProps/core.xml><?xml version="1.0" encoding="utf-8"?>
<cp:coreProperties xmlns:cp="http://schemas.openxmlformats.org/package/2006/metadata/core-properties" xmlns:dc="http://purl.org/dc/elements/1.1/" xmlns:dcterms="http://purl.org/dc/terms/" xmlns:xsi="http://www.w3.org/2001/XMLSchema-instance">
  <dc:creator>mukeshvarma2707@outlook.com</dc:creator>
  <cp:lastModifiedBy>Mobile phone user</cp:lastModifiedBy>
  <cp:revision>1</cp:revision>
  <dcterms:created xsi:type="dcterms:W3CDTF">2026-08-27T13:13:44Z</dcterms:created>
  <dcterms:modified xsi:type="dcterms:W3CDTF">2026-08-28T00:06:40Z</dcterms:modified>
</cp:coreProperties>
</file>