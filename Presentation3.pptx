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B1975C-18CA-4C9F-BED2-8F00C7B8F45D}" v="5" dt="2026-08-27T16:18:44.2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eshvarma2707@outlook.com" userId="ff978dd9d30d8323" providerId="LiveId" clId="{34117559-36CD-4F3D-9127-064988E9B8F5}"/>
    <pc:docChg chg="undo custSel modSld">
      <pc:chgData name="mukeshvarma2707@outlook.com" userId="ff978dd9d30d8323" providerId="LiveId" clId="{34117559-36CD-4F3D-9127-064988E9B8F5}" dt="2026-08-27T16:34:53.050" v="433" actId="20577"/>
      <pc:docMkLst>
        <pc:docMk/>
      </pc:docMkLst>
      <pc:sldChg chg="addSp delSp modSp mod">
        <pc:chgData name="mukeshvarma2707@outlook.com" userId="ff978dd9d30d8323" providerId="LiveId" clId="{34117559-36CD-4F3D-9127-064988E9B8F5}" dt="2026-08-27T16:25:03.569" v="426" actId="1076"/>
        <pc:sldMkLst>
          <pc:docMk/>
          <pc:sldMk cId="602946664" sldId="256"/>
        </pc:sldMkLst>
        <pc:spChg chg="del mod">
          <ac:chgData name="mukeshvarma2707@outlook.com" userId="ff978dd9d30d8323" providerId="LiveId" clId="{34117559-36CD-4F3D-9127-064988E9B8F5}" dt="2026-08-27T16:07:10.626" v="153" actId="478"/>
          <ac:spMkLst>
            <pc:docMk/>
            <pc:sldMk cId="602946664" sldId="256"/>
            <ac:spMk id="2" creationId="{9CB7A67E-7F49-F052-B985-7F8FFCCEE1CE}"/>
          </ac:spMkLst>
        </pc:spChg>
        <pc:spChg chg="del">
          <ac:chgData name="mukeshvarma2707@outlook.com" userId="ff978dd9d30d8323" providerId="LiveId" clId="{34117559-36CD-4F3D-9127-064988E9B8F5}" dt="2026-08-27T16:01:35.864" v="6" actId="478"/>
          <ac:spMkLst>
            <pc:docMk/>
            <pc:sldMk cId="602946664" sldId="256"/>
            <ac:spMk id="3" creationId="{8D7B53CE-876D-C785-3734-20A9971C8578}"/>
          </ac:spMkLst>
        </pc:spChg>
        <pc:spChg chg="add del">
          <ac:chgData name="mukeshvarma2707@outlook.com" userId="ff978dd9d30d8323" providerId="LiveId" clId="{34117559-36CD-4F3D-9127-064988E9B8F5}" dt="2026-08-27T16:01:02.245" v="1" actId="478"/>
          <ac:spMkLst>
            <pc:docMk/>
            <pc:sldMk cId="602946664" sldId="256"/>
            <ac:spMk id="5" creationId="{6A8230B1-C144-559E-2B39-195EFC89A619}"/>
          </ac:spMkLst>
        </pc:spChg>
        <pc:spChg chg="add del">
          <ac:chgData name="mukeshvarma2707@outlook.com" userId="ff978dd9d30d8323" providerId="LiveId" clId="{34117559-36CD-4F3D-9127-064988E9B8F5}" dt="2026-08-27T16:01:02.245" v="1" actId="478"/>
          <ac:spMkLst>
            <pc:docMk/>
            <pc:sldMk cId="602946664" sldId="256"/>
            <ac:spMk id="7" creationId="{A2513468-2382-BCCE-B2DB-AA90C6C73AE6}"/>
          </ac:spMkLst>
        </pc:spChg>
        <pc:spChg chg="add del">
          <ac:chgData name="mukeshvarma2707@outlook.com" userId="ff978dd9d30d8323" providerId="LiveId" clId="{34117559-36CD-4F3D-9127-064988E9B8F5}" dt="2026-08-27T16:01:02.245" v="1" actId="478"/>
          <ac:spMkLst>
            <pc:docMk/>
            <pc:sldMk cId="602946664" sldId="256"/>
            <ac:spMk id="9" creationId="{3C860947-C0E4-991F-9236-235E39A0A2A3}"/>
          </ac:spMkLst>
        </pc:spChg>
        <pc:spChg chg="add del">
          <ac:chgData name="mukeshvarma2707@outlook.com" userId="ff978dd9d30d8323" providerId="LiveId" clId="{34117559-36CD-4F3D-9127-064988E9B8F5}" dt="2026-08-27T16:01:02.245" v="1" actId="478"/>
          <ac:spMkLst>
            <pc:docMk/>
            <pc:sldMk cId="602946664" sldId="256"/>
            <ac:spMk id="11" creationId="{59C831C7-58AA-0FAB-A467-A497D8CC5C1A}"/>
          </ac:spMkLst>
        </pc:spChg>
        <pc:spChg chg="add del">
          <ac:chgData name="mukeshvarma2707@outlook.com" userId="ff978dd9d30d8323" providerId="LiveId" clId="{34117559-36CD-4F3D-9127-064988E9B8F5}" dt="2026-08-27T16:01:02.245" v="1" actId="478"/>
          <ac:spMkLst>
            <pc:docMk/>
            <pc:sldMk cId="602946664" sldId="256"/>
            <ac:spMk id="13" creationId="{9E865649-80C3-773E-0264-DF0AB5FB59E5}"/>
          </ac:spMkLst>
        </pc:spChg>
        <pc:spChg chg="add del">
          <ac:chgData name="mukeshvarma2707@outlook.com" userId="ff978dd9d30d8323" providerId="LiveId" clId="{34117559-36CD-4F3D-9127-064988E9B8F5}" dt="2026-08-27T16:01:02.245" v="1" actId="478"/>
          <ac:spMkLst>
            <pc:docMk/>
            <pc:sldMk cId="602946664" sldId="256"/>
            <ac:spMk id="15" creationId="{EC5FB6FC-BA71-79F6-229A-739CA78FAF27}"/>
          </ac:spMkLst>
        </pc:spChg>
        <pc:spChg chg="add del">
          <ac:chgData name="mukeshvarma2707@outlook.com" userId="ff978dd9d30d8323" providerId="LiveId" clId="{34117559-36CD-4F3D-9127-064988E9B8F5}" dt="2026-08-27T16:01:02.245" v="1" actId="478"/>
          <ac:spMkLst>
            <pc:docMk/>
            <pc:sldMk cId="602946664" sldId="256"/>
            <ac:spMk id="17" creationId="{C03657D3-5424-9165-1011-BBFDD6738041}"/>
          </ac:spMkLst>
        </pc:spChg>
        <pc:spChg chg="add del mod">
          <ac:chgData name="mukeshvarma2707@outlook.com" userId="ff978dd9d30d8323" providerId="LiveId" clId="{34117559-36CD-4F3D-9127-064988E9B8F5}" dt="2026-08-27T16:01:55.312" v="16"/>
          <ac:spMkLst>
            <pc:docMk/>
            <pc:sldMk cId="602946664" sldId="256"/>
            <ac:spMk id="18" creationId="{47E94B36-43E1-DFA0-B0C1-1CC150F1DD3E}"/>
          </ac:spMkLst>
        </pc:spChg>
        <pc:spChg chg="add">
          <ac:chgData name="mukeshvarma2707@outlook.com" userId="ff978dd9d30d8323" providerId="LiveId" clId="{34117559-36CD-4F3D-9127-064988E9B8F5}" dt="2026-08-27T16:01:50.279" v="14" actId="22"/>
          <ac:spMkLst>
            <pc:docMk/>
            <pc:sldMk cId="602946664" sldId="256"/>
            <ac:spMk id="20" creationId="{89058D5F-D10C-B371-EFEA-836C9EC0D92C}"/>
          </ac:spMkLst>
        </pc:spChg>
        <pc:spChg chg="add del mod">
          <ac:chgData name="mukeshvarma2707@outlook.com" userId="ff978dd9d30d8323" providerId="LiveId" clId="{34117559-36CD-4F3D-9127-064988E9B8F5}" dt="2026-08-27T16:02:27.084" v="28" actId="478"/>
          <ac:spMkLst>
            <pc:docMk/>
            <pc:sldMk cId="602946664" sldId="256"/>
            <ac:spMk id="22" creationId="{FE9DB554-0E26-39F0-A600-D3DFF034F483}"/>
          </ac:spMkLst>
        </pc:spChg>
        <pc:spChg chg="add mod">
          <ac:chgData name="mukeshvarma2707@outlook.com" userId="ff978dd9d30d8323" providerId="LiveId" clId="{34117559-36CD-4F3D-9127-064988E9B8F5}" dt="2026-08-27T16:23:09.304" v="419" actId="2710"/>
          <ac:spMkLst>
            <pc:docMk/>
            <pc:sldMk cId="602946664" sldId="256"/>
            <ac:spMk id="24" creationId="{E68BBE46-4806-AFEC-1EC0-54DB44DDED6D}"/>
          </ac:spMkLst>
        </pc:spChg>
        <pc:spChg chg="add mod">
          <ac:chgData name="mukeshvarma2707@outlook.com" userId="ff978dd9d30d8323" providerId="LiveId" clId="{34117559-36CD-4F3D-9127-064988E9B8F5}" dt="2026-08-27T16:25:03.569" v="426" actId="1076"/>
          <ac:spMkLst>
            <pc:docMk/>
            <pc:sldMk cId="602946664" sldId="256"/>
            <ac:spMk id="26" creationId="{84004082-37A1-C292-64CA-11190DAF4100}"/>
          </ac:spMkLst>
        </pc:spChg>
        <pc:spChg chg="add del mod">
          <ac:chgData name="mukeshvarma2707@outlook.com" userId="ff978dd9d30d8323" providerId="LiveId" clId="{34117559-36CD-4F3D-9127-064988E9B8F5}" dt="2026-08-27T16:05:01.570" v="55" actId="478"/>
          <ac:spMkLst>
            <pc:docMk/>
            <pc:sldMk cId="602946664" sldId="256"/>
            <ac:spMk id="28" creationId="{A0641C15-EDF9-7BC4-1FE7-160FD42BC611}"/>
          </ac:spMkLst>
        </pc:spChg>
        <pc:spChg chg="add mod">
          <ac:chgData name="mukeshvarma2707@outlook.com" userId="ff978dd9d30d8323" providerId="LiveId" clId="{34117559-36CD-4F3D-9127-064988E9B8F5}" dt="2026-08-27T16:02:39.227" v="34" actId="404"/>
          <ac:spMkLst>
            <pc:docMk/>
            <pc:sldMk cId="602946664" sldId="256"/>
            <ac:spMk id="30" creationId="{282A7ABC-4E79-E11C-7CDC-B839230EEF06}"/>
          </ac:spMkLst>
        </pc:spChg>
        <pc:spChg chg="add mod">
          <ac:chgData name="mukeshvarma2707@outlook.com" userId="ff978dd9d30d8323" providerId="LiveId" clId="{34117559-36CD-4F3D-9127-064988E9B8F5}" dt="2026-08-27T16:21:02.517" v="411" actId="1076"/>
          <ac:spMkLst>
            <pc:docMk/>
            <pc:sldMk cId="602946664" sldId="256"/>
            <ac:spMk id="32" creationId="{57C55A9A-6A7F-4FE2-A971-073982F9E2A2}"/>
          </ac:spMkLst>
        </pc:spChg>
      </pc:sldChg>
      <pc:sldChg chg="modSp mod">
        <pc:chgData name="mukeshvarma2707@outlook.com" userId="ff978dd9d30d8323" providerId="LiveId" clId="{34117559-36CD-4F3D-9127-064988E9B8F5}" dt="2026-08-27T16:25:45.744" v="428" actId="20577"/>
        <pc:sldMkLst>
          <pc:docMk/>
          <pc:sldMk cId="2407887025" sldId="258"/>
        </pc:sldMkLst>
        <pc:spChg chg="mod">
          <ac:chgData name="mukeshvarma2707@outlook.com" userId="ff978dd9d30d8323" providerId="LiveId" clId="{34117559-36CD-4F3D-9127-064988E9B8F5}" dt="2026-08-27T16:25:45.744" v="428" actId="20577"/>
          <ac:spMkLst>
            <pc:docMk/>
            <pc:sldMk cId="2407887025" sldId="258"/>
            <ac:spMk id="3" creationId="{31B404C7-AD35-72E3-8F87-8C2BD3998B96}"/>
          </ac:spMkLst>
        </pc:spChg>
      </pc:sldChg>
      <pc:sldChg chg="modSp mod">
        <pc:chgData name="mukeshvarma2707@outlook.com" userId="ff978dd9d30d8323" providerId="LiveId" clId="{34117559-36CD-4F3D-9127-064988E9B8F5}" dt="2026-08-27T16:12:01.509" v="202" actId="20577"/>
        <pc:sldMkLst>
          <pc:docMk/>
          <pc:sldMk cId="3725168418" sldId="259"/>
        </pc:sldMkLst>
        <pc:spChg chg="mod">
          <ac:chgData name="mukeshvarma2707@outlook.com" userId="ff978dd9d30d8323" providerId="LiveId" clId="{34117559-36CD-4F3D-9127-064988E9B8F5}" dt="2026-08-27T16:12:01.509" v="202" actId="20577"/>
          <ac:spMkLst>
            <pc:docMk/>
            <pc:sldMk cId="3725168418" sldId="259"/>
            <ac:spMk id="3" creationId="{C3EFCA24-150D-CF55-4C0B-D334868ED22E}"/>
          </ac:spMkLst>
        </pc:spChg>
      </pc:sldChg>
      <pc:sldChg chg="modSp mod">
        <pc:chgData name="mukeshvarma2707@outlook.com" userId="ff978dd9d30d8323" providerId="LiveId" clId="{34117559-36CD-4F3D-9127-064988E9B8F5}" dt="2026-08-27T16:25:59.371" v="431" actId="403"/>
        <pc:sldMkLst>
          <pc:docMk/>
          <pc:sldMk cId="1909314165" sldId="260"/>
        </pc:sldMkLst>
        <pc:spChg chg="mod">
          <ac:chgData name="mukeshvarma2707@outlook.com" userId="ff978dd9d30d8323" providerId="LiveId" clId="{34117559-36CD-4F3D-9127-064988E9B8F5}" dt="2026-08-27T16:25:59.371" v="431" actId="403"/>
          <ac:spMkLst>
            <pc:docMk/>
            <pc:sldMk cId="1909314165" sldId="260"/>
            <ac:spMk id="3" creationId="{48D36778-7038-5316-FA64-1A9439A4F0CE}"/>
          </ac:spMkLst>
        </pc:spChg>
      </pc:sldChg>
      <pc:sldChg chg="modSp mod">
        <pc:chgData name="mukeshvarma2707@outlook.com" userId="ff978dd9d30d8323" providerId="LiveId" clId="{34117559-36CD-4F3D-9127-064988E9B8F5}" dt="2026-08-27T16:34:53.050" v="433" actId="20577"/>
        <pc:sldMkLst>
          <pc:docMk/>
          <pc:sldMk cId="1747024291" sldId="261"/>
        </pc:sldMkLst>
        <pc:spChg chg="mod">
          <ac:chgData name="mukeshvarma2707@outlook.com" userId="ff978dd9d30d8323" providerId="LiveId" clId="{34117559-36CD-4F3D-9127-064988E9B8F5}" dt="2026-08-27T16:34:53.050" v="433" actId="20577"/>
          <ac:spMkLst>
            <pc:docMk/>
            <pc:sldMk cId="1747024291" sldId="261"/>
            <ac:spMk id="3" creationId="{C593CFB8-2C70-E9EB-798C-5113D9E5DCD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32BFF-5A9E-A485-CBB5-E5353175A3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470391E-26E7-C633-3E78-93301F9D79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8BAE15C-CA26-DD40-922A-C8BE037D6E47}"/>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5" name="Footer Placeholder 4">
            <a:extLst>
              <a:ext uri="{FF2B5EF4-FFF2-40B4-BE49-F238E27FC236}">
                <a16:creationId xmlns:a16="http://schemas.microsoft.com/office/drawing/2014/main" id="{F6FFFA23-ADBA-35CA-76D6-8F5DF1E2C2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86BD8A-3EBE-6179-6524-72B442FC7450}"/>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343185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BF630-D1FE-5D44-7E31-47C3700CE7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312254-2159-4151-F6CE-A4889C708F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523DDC-4CB7-A655-6AE9-AC40E62405B2}"/>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5" name="Footer Placeholder 4">
            <a:extLst>
              <a:ext uri="{FF2B5EF4-FFF2-40B4-BE49-F238E27FC236}">
                <a16:creationId xmlns:a16="http://schemas.microsoft.com/office/drawing/2014/main" id="{062D85CB-DE68-28D7-6F7A-7077A28886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2946B3-7AB6-1EBC-6DD5-AD3FB5651A0B}"/>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3892914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AFA0-0DAD-606C-95BB-5520652232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4934DF-B72F-4C9B-21EE-5644820927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D793DC-25CA-93D2-0D18-3665351FEA18}"/>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5" name="Footer Placeholder 4">
            <a:extLst>
              <a:ext uri="{FF2B5EF4-FFF2-40B4-BE49-F238E27FC236}">
                <a16:creationId xmlns:a16="http://schemas.microsoft.com/office/drawing/2014/main" id="{19597005-3CED-3BC0-726B-6C10789ED7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D6480C-97A5-638A-7C79-FF258CDD4EF5}"/>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3684297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AF0A6-10B0-0A8B-08CE-220BAE5CC3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1F28BB-4B42-C260-04AB-44D3725441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8D029B-131A-1B16-4206-5963888C2B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030BB9-7174-1AAE-945A-51BDDE1F6975}"/>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6" name="Footer Placeholder 5">
            <a:extLst>
              <a:ext uri="{FF2B5EF4-FFF2-40B4-BE49-F238E27FC236}">
                <a16:creationId xmlns:a16="http://schemas.microsoft.com/office/drawing/2014/main" id="{C6F95A8E-5BB7-BDFE-9BE9-3D9A75D766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1162B0-6AE2-7F34-C847-1B7B3D45B2C7}"/>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2592337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3B3A7-BF8D-486C-C1E4-E8ED7619DB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31E5B3-5A4E-782E-3786-C55E55745D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400FF1-59CA-AC1B-8C3B-F432D4EE29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3DF6124-D521-CEED-AEF5-83C4C9E528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E1047E-F381-9467-532B-31FBA56C53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3F13EE-2FD9-7378-843D-D5AA564F2124}"/>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8" name="Footer Placeholder 7">
            <a:extLst>
              <a:ext uri="{FF2B5EF4-FFF2-40B4-BE49-F238E27FC236}">
                <a16:creationId xmlns:a16="http://schemas.microsoft.com/office/drawing/2014/main" id="{5D1CAAC9-0962-2C18-B187-99D14792396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073A31F-2C66-1D84-D92F-0E8D6BF55EEF}"/>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1993945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B51EC-D9EB-F020-4801-19B7FDE177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43EABF-6352-D870-FDF3-277056BE860E}"/>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4" name="Footer Placeholder 3">
            <a:extLst>
              <a:ext uri="{FF2B5EF4-FFF2-40B4-BE49-F238E27FC236}">
                <a16:creationId xmlns:a16="http://schemas.microsoft.com/office/drawing/2014/main" id="{E97945FA-8231-5227-61CF-49C2C2884EB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692323-FEB5-6F26-7B71-88E72BD28539}"/>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20305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A0EB1D-798B-35C8-9FAB-8B5C69081097}"/>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3" name="Footer Placeholder 2">
            <a:extLst>
              <a:ext uri="{FF2B5EF4-FFF2-40B4-BE49-F238E27FC236}">
                <a16:creationId xmlns:a16="http://schemas.microsoft.com/office/drawing/2014/main" id="{A6E8DBA4-EF50-079C-6078-0D925BB7F6F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532D8A-049E-4745-CAC3-B75BA7917515}"/>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3211044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6D0BB-545D-8D55-3B66-F409613301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DC215D-2361-87CD-1599-0F3E324BD9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DC506B-5CCF-927F-F923-689D722E1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A7DE3F-2320-D1B8-338D-B65B60EAE98B}"/>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6" name="Footer Placeholder 5">
            <a:extLst>
              <a:ext uri="{FF2B5EF4-FFF2-40B4-BE49-F238E27FC236}">
                <a16:creationId xmlns:a16="http://schemas.microsoft.com/office/drawing/2014/main" id="{07A625D6-2B13-9065-8162-E99B98105D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71262E-CDE7-0FD5-560D-FD25768AC9A1}"/>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626395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F97A9-E738-DAE4-12BB-D17C24D1AA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0B88B4-382D-9AB5-0A2A-F47C33A22F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97B9F7-C53F-FA3E-FC02-420405030A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876DD-E1CE-1943-7E95-56EB06B944C7}"/>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6" name="Footer Placeholder 5">
            <a:extLst>
              <a:ext uri="{FF2B5EF4-FFF2-40B4-BE49-F238E27FC236}">
                <a16:creationId xmlns:a16="http://schemas.microsoft.com/office/drawing/2014/main" id="{BE008CD5-7AA4-6B07-264E-A94572227D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E547A0-ABB2-5AB5-A602-85DAF7339ADD}"/>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1353972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FEF54-695B-A2A3-D4F7-C7FCD171565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A632F7-F6D0-DD29-88CB-627EA61915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346FF9-A672-2CF0-554B-72387BC7E066}"/>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5" name="Footer Placeholder 4">
            <a:extLst>
              <a:ext uri="{FF2B5EF4-FFF2-40B4-BE49-F238E27FC236}">
                <a16:creationId xmlns:a16="http://schemas.microsoft.com/office/drawing/2014/main" id="{762C0BC9-54BD-F315-377C-ADD4D22CCC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D71E1C-764C-A0D5-78C1-6C3F75EF02E4}"/>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1971213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0F6618-90BE-2420-7E7C-0F08E943E9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BD76BD-7C70-F4C1-E670-9F02A25C7C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AB7D9F-0125-8668-31E7-A08E2D5915D0}"/>
              </a:ext>
            </a:extLst>
          </p:cNvPr>
          <p:cNvSpPr>
            <a:spLocks noGrp="1"/>
          </p:cNvSpPr>
          <p:nvPr>
            <p:ph type="dt" sz="half" idx="10"/>
          </p:nvPr>
        </p:nvSpPr>
        <p:spPr/>
        <p:txBody>
          <a:bodyPr/>
          <a:lstStyle/>
          <a:p>
            <a:fld id="{58B2C37E-B022-4A68-BB44-715A28FAB615}" type="datetimeFigureOut">
              <a:rPr lang="en-IN" smtClean="0"/>
              <a:t>27-08-2026</a:t>
            </a:fld>
            <a:endParaRPr lang="en-IN"/>
          </a:p>
        </p:txBody>
      </p:sp>
      <p:sp>
        <p:nvSpPr>
          <p:cNvPr id="5" name="Footer Placeholder 4">
            <a:extLst>
              <a:ext uri="{FF2B5EF4-FFF2-40B4-BE49-F238E27FC236}">
                <a16:creationId xmlns:a16="http://schemas.microsoft.com/office/drawing/2014/main" id="{8E572661-2820-1798-354F-CAA85E6C77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151B72-B9AE-A19C-5738-B027DC3BDE87}"/>
              </a:ext>
            </a:extLst>
          </p:cNvPr>
          <p:cNvSpPr>
            <a:spLocks noGrp="1"/>
          </p:cNvSpPr>
          <p:nvPr>
            <p:ph type="sldNum" sz="quarter" idx="12"/>
          </p:nvPr>
        </p:nvSpPr>
        <p:spPr/>
        <p:txBody>
          <a:bodyPr/>
          <a:lstStyle/>
          <a:p>
            <a:fld id="{8E0CBF28-C96B-4143-A2AA-6753C02B1A41}" type="slidenum">
              <a:rPr lang="en-IN" smtClean="0"/>
              <a:t>‹#›</a:t>
            </a:fld>
            <a:endParaRPr lang="en-IN"/>
          </a:p>
        </p:txBody>
      </p:sp>
    </p:spTree>
    <p:extLst>
      <p:ext uri="{BB962C8B-B14F-4D97-AF65-F5344CB8AC3E}">
        <p14:creationId xmlns:p14="http://schemas.microsoft.com/office/powerpoint/2010/main" val="1869818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75BD93-63DE-F302-AA27-63D60BDAA5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6C9D01-E079-6929-B3B0-A3312CEE12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A6C7BC-37BA-35EC-897E-DDCB7C8B24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B2C37E-B022-4A68-BB44-715A28FAB615}" type="datetimeFigureOut">
              <a:rPr lang="en-IN" smtClean="0"/>
              <a:t>27-08-2026</a:t>
            </a:fld>
            <a:endParaRPr lang="en-IN"/>
          </a:p>
        </p:txBody>
      </p:sp>
      <p:sp>
        <p:nvSpPr>
          <p:cNvPr id="5" name="Footer Placeholder 4">
            <a:extLst>
              <a:ext uri="{FF2B5EF4-FFF2-40B4-BE49-F238E27FC236}">
                <a16:creationId xmlns:a16="http://schemas.microsoft.com/office/drawing/2014/main" id="{B3355B5A-015B-0F38-C6D2-7AB79D866C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C4E1301-61A9-9690-7E6B-4A0059D604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CBF28-C96B-4143-A2AA-6753C02B1A41}" type="slidenum">
              <a:rPr lang="en-IN" smtClean="0"/>
              <a:t>‹#›</a:t>
            </a:fld>
            <a:endParaRPr lang="en-IN"/>
          </a:p>
        </p:txBody>
      </p:sp>
    </p:spTree>
    <p:extLst>
      <p:ext uri="{BB962C8B-B14F-4D97-AF65-F5344CB8AC3E}">
        <p14:creationId xmlns:p14="http://schemas.microsoft.com/office/powerpoint/2010/main" val="572829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2">
            <a:extLst>
              <a:ext uri="{FF2B5EF4-FFF2-40B4-BE49-F238E27FC236}">
                <a16:creationId xmlns:a16="http://schemas.microsoft.com/office/drawing/2014/main" id="{89058D5F-D10C-B371-EFEA-836C9EC0D92C}"/>
              </a:ext>
            </a:extLst>
          </p:cNvPr>
          <p:cNvSpPr/>
          <p:nvPr/>
        </p:nvSpPr>
        <p:spPr>
          <a:xfrm>
            <a:off x="1447800" y="7763317"/>
            <a:ext cx="1077509" cy="0"/>
          </a:xfrm>
          <a:prstGeom prst="line">
            <a:avLst/>
          </a:prstGeom>
          <a:ln w="95250" cap="flat">
            <a:solidFill>
              <a:srgbClr val="FF5347"/>
            </a:solidFill>
            <a:prstDash val="solid"/>
            <a:headEnd type="none" w="sm" len="sm"/>
            <a:tailEnd type="none" w="sm" len="sm"/>
          </a:ln>
        </p:spPr>
      </p:sp>
      <p:sp>
        <p:nvSpPr>
          <p:cNvPr id="24" name="TextBox 4">
            <a:extLst>
              <a:ext uri="{FF2B5EF4-FFF2-40B4-BE49-F238E27FC236}">
                <a16:creationId xmlns:a16="http://schemas.microsoft.com/office/drawing/2014/main" id="{E68BBE46-4806-AFEC-1EC0-54DB44DDED6D}"/>
              </a:ext>
            </a:extLst>
          </p:cNvPr>
          <p:cNvSpPr txBox="1"/>
          <p:nvPr/>
        </p:nvSpPr>
        <p:spPr>
          <a:xfrm>
            <a:off x="1292468" y="2296644"/>
            <a:ext cx="7820818" cy="2982291"/>
          </a:xfrm>
          <a:prstGeom prst="rect">
            <a:avLst/>
          </a:prstGeom>
        </p:spPr>
        <p:txBody>
          <a:bodyPr wrap="square" lIns="0" tIns="0" rIns="0" bIns="0" rtlCol="0" anchor="t">
            <a:spAutoFit/>
          </a:bodyPr>
          <a:lstStyle/>
          <a:p>
            <a:pPr algn="l">
              <a:lnSpc>
                <a:spcPct val="200000"/>
              </a:lnSpc>
            </a:pPr>
            <a:r>
              <a:rPr lang="en-US" sz="2000" b="1" spc="19" dirty="0">
                <a:solidFill>
                  <a:srgbClr val="000000"/>
                </a:solidFill>
                <a:latin typeface="Times New Roman MT Bold"/>
                <a:ea typeface="Times New Roman MT Bold"/>
                <a:cs typeface="Times New Roman MT Bold"/>
                <a:sym typeface="Times New Roman MT Bold"/>
              </a:rPr>
              <a:t>Name				T  Mukesh Varma</a:t>
            </a:r>
          </a:p>
          <a:p>
            <a:pPr algn="l">
              <a:lnSpc>
                <a:spcPct val="200000"/>
              </a:lnSpc>
            </a:pPr>
            <a:r>
              <a:rPr lang="en-US" sz="2000" b="1" spc="19" dirty="0">
                <a:solidFill>
                  <a:srgbClr val="000000"/>
                </a:solidFill>
                <a:latin typeface="Times New Roman MT Bold"/>
                <a:ea typeface="Times New Roman MT Bold"/>
                <a:cs typeface="Times New Roman MT Bold"/>
                <a:sym typeface="Times New Roman MT Bold"/>
              </a:rPr>
              <a:t>Roll number			25MAS1004</a:t>
            </a:r>
          </a:p>
          <a:p>
            <a:pPr algn="l">
              <a:lnSpc>
                <a:spcPct val="200000"/>
              </a:lnSpc>
            </a:pPr>
            <a:r>
              <a:rPr lang="en-US" sz="2000" b="1" spc="19" dirty="0">
                <a:solidFill>
                  <a:srgbClr val="000000"/>
                </a:solidFill>
                <a:latin typeface="Times New Roman MT Bold"/>
                <a:ea typeface="Times New Roman MT Bold"/>
                <a:cs typeface="Times New Roman MT Bold"/>
                <a:sym typeface="Times New Roman MT Bold"/>
              </a:rPr>
              <a:t>Registered email address	mukeshvarma2904@gmail.com</a:t>
            </a:r>
          </a:p>
          <a:p>
            <a:pPr algn="l">
              <a:lnSpc>
                <a:spcPct val="200000"/>
              </a:lnSpc>
            </a:pPr>
            <a:r>
              <a:rPr lang="en-US" sz="2000" b="1" spc="19" dirty="0">
                <a:solidFill>
                  <a:srgbClr val="000000"/>
                </a:solidFill>
                <a:latin typeface="Times New Roman MT Bold"/>
                <a:ea typeface="Times New Roman MT Bold"/>
                <a:cs typeface="Times New Roman MT Bold"/>
                <a:sym typeface="Times New Roman MT Bold"/>
              </a:rPr>
              <a:t>Institution 			VIT Chennai</a:t>
            </a:r>
          </a:p>
          <a:p>
            <a:pPr algn="l">
              <a:lnSpc>
                <a:spcPct val="200000"/>
              </a:lnSpc>
            </a:pPr>
            <a:r>
              <a:rPr lang="en-US" sz="2000" b="1" spc="19" dirty="0">
                <a:solidFill>
                  <a:srgbClr val="000000"/>
                </a:solidFill>
                <a:latin typeface="Times New Roman MT Bold"/>
                <a:ea typeface="Times New Roman MT Bold"/>
                <a:cs typeface="Times New Roman MT Bold"/>
                <a:sym typeface="Times New Roman MT Bold"/>
              </a:rPr>
              <a:t>Course				</a:t>
            </a:r>
            <a:r>
              <a:rPr lang="en-US" sz="2000" b="1" spc="19" dirty="0" err="1">
                <a:solidFill>
                  <a:srgbClr val="000000"/>
                </a:solidFill>
                <a:latin typeface="Times New Roman MT Bold"/>
                <a:ea typeface="Times New Roman MT Bold"/>
                <a:cs typeface="Times New Roman MT Bold"/>
                <a:sym typeface="Times New Roman MT Bold"/>
              </a:rPr>
              <a:t>M.Tech</a:t>
            </a:r>
            <a:r>
              <a:rPr lang="en-US" sz="2000" b="1" spc="19" dirty="0">
                <a:solidFill>
                  <a:srgbClr val="000000"/>
                </a:solidFill>
                <a:latin typeface="Times New Roman MT Bold"/>
                <a:ea typeface="Times New Roman MT Bold"/>
                <a:cs typeface="Times New Roman MT Bold"/>
                <a:sym typeface="Times New Roman MT Bold"/>
              </a:rPr>
              <a:t> AI &amp; DS</a:t>
            </a:r>
            <a:endParaRPr lang="en-US" sz="3999" b="1" spc="19" dirty="0">
              <a:solidFill>
                <a:srgbClr val="000000"/>
              </a:solidFill>
              <a:latin typeface="Times New Roman MT Bold"/>
              <a:ea typeface="Times New Roman MT Bold"/>
              <a:cs typeface="Times New Roman MT Bold"/>
              <a:sym typeface="Times New Roman MT Bold"/>
            </a:endParaRPr>
          </a:p>
        </p:txBody>
      </p:sp>
      <p:sp>
        <p:nvSpPr>
          <p:cNvPr id="26" name="TextBox 5">
            <a:extLst>
              <a:ext uri="{FF2B5EF4-FFF2-40B4-BE49-F238E27FC236}">
                <a16:creationId xmlns:a16="http://schemas.microsoft.com/office/drawing/2014/main" id="{84004082-37A1-C292-64CA-11190DAF4100}"/>
              </a:ext>
            </a:extLst>
          </p:cNvPr>
          <p:cNvSpPr txBox="1"/>
          <p:nvPr/>
        </p:nvSpPr>
        <p:spPr>
          <a:xfrm>
            <a:off x="4526349" y="2116818"/>
            <a:ext cx="285383" cy="3341941"/>
          </a:xfrm>
          <a:prstGeom prst="rect">
            <a:avLst/>
          </a:prstGeom>
        </p:spPr>
        <p:txBody>
          <a:bodyPr lIns="0" tIns="0" rIns="0" bIns="0" rtlCol="0" anchor="t">
            <a:spAutoFit/>
          </a:bodyPr>
          <a:lstStyle/>
          <a:p>
            <a:pPr algn="l">
              <a:lnSpc>
                <a:spcPct val="250000"/>
              </a:lnSpc>
            </a:pPr>
            <a:r>
              <a:rPr lang="en-US" b="1" spc="19" dirty="0">
                <a:solidFill>
                  <a:srgbClr val="000000"/>
                </a:solidFill>
                <a:latin typeface="Times New Roman MT Bold"/>
                <a:ea typeface="Times New Roman MT Bold"/>
                <a:cs typeface="Times New Roman MT Bold"/>
                <a:sym typeface="Times New Roman MT Bold"/>
              </a:rPr>
              <a:t>:</a:t>
            </a:r>
          </a:p>
          <a:p>
            <a:pPr algn="l">
              <a:lnSpc>
                <a:spcPct val="250000"/>
              </a:lnSpc>
            </a:pPr>
            <a:r>
              <a:rPr lang="en-US" b="1" spc="19" dirty="0">
                <a:solidFill>
                  <a:srgbClr val="000000"/>
                </a:solidFill>
                <a:latin typeface="Times New Roman MT Bold"/>
                <a:ea typeface="Times New Roman MT Bold"/>
                <a:cs typeface="Times New Roman MT Bold"/>
                <a:sym typeface="Times New Roman MT Bold"/>
              </a:rPr>
              <a:t>:</a:t>
            </a:r>
          </a:p>
          <a:p>
            <a:pPr algn="l">
              <a:lnSpc>
                <a:spcPct val="250000"/>
              </a:lnSpc>
            </a:pPr>
            <a:r>
              <a:rPr lang="en-US" b="1" spc="19" dirty="0">
                <a:solidFill>
                  <a:srgbClr val="000000"/>
                </a:solidFill>
                <a:latin typeface="Times New Roman MT Bold"/>
                <a:ea typeface="Times New Roman MT Bold"/>
                <a:cs typeface="Times New Roman MT Bold"/>
                <a:sym typeface="Times New Roman MT Bold"/>
              </a:rPr>
              <a:t>:</a:t>
            </a:r>
          </a:p>
          <a:p>
            <a:pPr algn="l">
              <a:lnSpc>
                <a:spcPct val="250000"/>
              </a:lnSpc>
            </a:pPr>
            <a:r>
              <a:rPr lang="en-US" b="1" spc="19" dirty="0">
                <a:solidFill>
                  <a:srgbClr val="000000"/>
                </a:solidFill>
                <a:latin typeface="Times New Roman MT Bold"/>
                <a:ea typeface="Times New Roman MT Bold"/>
                <a:cs typeface="Times New Roman MT Bold"/>
                <a:sym typeface="Times New Roman MT Bold"/>
              </a:rPr>
              <a:t>:</a:t>
            </a:r>
          </a:p>
          <a:p>
            <a:pPr algn="l">
              <a:lnSpc>
                <a:spcPct val="250000"/>
              </a:lnSpc>
            </a:pPr>
            <a:r>
              <a:rPr lang="en-US" b="1" spc="19" dirty="0">
                <a:solidFill>
                  <a:srgbClr val="000000"/>
                </a:solidFill>
                <a:latin typeface="Times New Roman MT Bold"/>
                <a:ea typeface="Times New Roman MT Bold"/>
                <a:cs typeface="Times New Roman MT Bold"/>
                <a:sym typeface="Times New Roman MT Bold"/>
              </a:rPr>
              <a:t>:</a:t>
            </a:r>
          </a:p>
        </p:txBody>
      </p:sp>
      <p:sp>
        <p:nvSpPr>
          <p:cNvPr id="30" name="TextBox 7">
            <a:extLst>
              <a:ext uri="{FF2B5EF4-FFF2-40B4-BE49-F238E27FC236}">
                <a16:creationId xmlns:a16="http://schemas.microsoft.com/office/drawing/2014/main" id="{282A7ABC-4E79-E11C-7CDC-B839230EEF06}"/>
              </a:ext>
            </a:extLst>
          </p:cNvPr>
          <p:cNvSpPr txBox="1"/>
          <p:nvPr/>
        </p:nvSpPr>
        <p:spPr>
          <a:xfrm>
            <a:off x="8930406" y="5766248"/>
            <a:ext cx="3941413" cy="608756"/>
          </a:xfrm>
          <a:prstGeom prst="rect">
            <a:avLst/>
          </a:prstGeom>
        </p:spPr>
        <p:txBody>
          <a:bodyPr lIns="0" tIns="0" rIns="0" bIns="0" rtlCol="0" anchor="t">
            <a:spAutoFit/>
          </a:bodyPr>
          <a:lstStyle/>
          <a:p>
            <a:pPr algn="l">
              <a:lnSpc>
                <a:spcPts val="5600"/>
              </a:lnSpc>
            </a:pPr>
            <a:r>
              <a:rPr lang="en-US" sz="2000" b="1" spc="20" dirty="0">
                <a:solidFill>
                  <a:srgbClr val="000000"/>
                </a:solidFill>
                <a:latin typeface="Times New Roman MT Bold"/>
                <a:ea typeface="Times New Roman MT Bold"/>
                <a:cs typeface="Times New Roman MT Bold"/>
                <a:sym typeface="Times New Roman MT Bold"/>
              </a:rPr>
              <a:t>REVIEW NO. - 0</a:t>
            </a:r>
          </a:p>
        </p:txBody>
      </p:sp>
      <p:sp>
        <p:nvSpPr>
          <p:cNvPr id="32" name="TextBox 8">
            <a:extLst>
              <a:ext uri="{FF2B5EF4-FFF2-40B4-BE49-F238E27FC236}">
                <a16:creationId xmlns:a16="http://schemas.microsoft.com/office/drawing/2014/main" id="{57C55A9A-6A7F-4FE2-A971-073982F9E2A2}"/>
              </a:ext>
            </a:extLst>
          </p:cNvPr>
          <p:cNvSpPr txBox="1"/>
          <p:nvPr/>
        </p:nvSpPr>
        <p:spPr>
          <a:xfrm>
            <a:off x="2054977" y="848527"/>
            <a:ext cx="7789437" cy="709040"/>
          </a:xfrm>
          <a:prstGeom prst="rect">
            <a:avLst/>
          </a:prstGeom>
        </p:spPr>
        <p:txBody>
          <a:bodyPr lIns="0" tIns="0" rIns="0" bIns="0" rtlCol="0" anchor="t">
            <a:spAutoFit/>
          </a:bodyPr>
          <a:lstStyle/>
          <a:p>
            <a:pPr algn="ctr">
              <a:lnSpc>
                <a:spcPts val="6440"/>
              </a:lnSpc>
            </a:pPr>
            <a:r>
              <a:rPr lang="en-US" sz="2800" b="1" spc="23" dirty="0">
                <a:solidFill>
                  <a:srgbClr val="000000"/>
                </a:solidFill>
                <a:latin typeface="Times New Roman MT Bold"/>
                <a:ea typeface="Times New Roman MT Bold"/>
                <a:cs typeface="Times New Roman MT Bold"/>
                <a:sym typeface="Times New Roman MT Bold"/>
              </a:rPr>
              <a:t>INDIVIDUAL PROJECTS</a:t>
            </a:r>
          </a:p>
        </p:txBody>
      </p:sp>
    </p:spTree>
    <p:extLst>
      <p:ext uri="{BB962C8B-B14F-4D97-AF65-F5344CB8AC3E}">
        <p14:creationId xmlns:p14="http://schemas.microsoft.com/office/powerpoint/2010/main" val="602946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B404C7-AD35-72E3-8F87-8C2BD3998B96}"/>
              </a:ext>
            </a:extLst>
          </p:cNvPr>
          <p:cNvSpPr>
            <a:spLocks noGrp="1"/>
          </p:cNvSpPr>
          <p:nvPr>
            <p:ph idx="1"/>
          </p:nvPr>
        </p:nvSpPr>
        <p:spPr>
          <a:xfrm>
            <a:off x="640080" y="577516"/>
            <a:ext cx="11000232" cy="5599447"/>
          </a:xfrm>
        </p:spPr>
        <p:txBody>
          <a:bodyPr>
            <a:normAutofit/>
          </a:bodyPr>
          <a:lstStyle/>
          <a:p>
            <a:pPr marL="0" indent="0">
              <a:buNone/>
            </a:pPr>
            <a:r>
              <a:rPr lang="en-US" sz="2000" b="1" dirty="0">
                <a:solidFill>
                  <a:schemeClr val="accent1">
                    <a:lumMod val="50000"/>
                  </a:schemeClr>
                </a:solidFill>
                <a:latin typeface="Calibri" pitchFamily="34" charset="0"/>
                <a:ea typeface="Calibri" pitchFamily="34" charset="-122"/>
                <a:cs typeface="Calibri" pitchFamily="34" charset="-120"/>
              </a:rPr>
              <a:t>1.MarketSentinel AI: Adversarial Agentic Market Manipulation Detection &amp; Verification</a:t>
            </a:r>
          </a:p>
          <a:p>
            <a:pPr marL="0" indent="0">
              <a:buNone/>
            </a:pPr>
            <a:r>
              <a:rPr lang="en-US" sz="1600" b="1" dirty="0">
                <a:solidFill>
                  <a:schemeClr val="accent1">
                    <a:lumMod val="50000"/>
                  </a:schemeClr>
                </a:solidFill>
                <a:latin typeface="Calibri" pitchFamily="34" charset="0"/>
                <a:ea typeface="Calibri" pitchFamily="34" charset="-122"/>
                <a:cs typeface="Calibri" pitchFamily="34" charset="-120"/>
              </a:rPr>
              <a:t>Problem Statement</a:t>
            </a:r>
            <a:endParaRPr lang="en-US" sz="1600" dirty="0">
              <a:solidFill>
                <a:schemeClr val="accent1">
                  <a:lumMod val="50000"/>
                </a:schemeClr>
              </a:solidFill>
            </a:endParaRPr>
          </a:p>
          <a:p>
            <a:r>
              <a:rPr lang="en-US" sz="1400" dirty="0">
                <a:solidFill>
                  <a:srgbClr val="222222"/>
                </a:solidFill>
                <a:latin typeface="Calibri" pitchFamily="34" charset="0"/>
                <a:ea typeface="Calibri" pitchFamily="34" charset="-122"/>
                <a:cs typeface="Calibri" pitchFamily="34" charset="-120"/>
              </a:rPr>
              <a:t>Coordinated groups hype low-liquidity stocks on social media to inflate price, then sell into the retail-driven spike before it collapses. This persists because thin order books let small coordinated buying move price sharply, social-media and market-surveillance signals are monitored separately so the correlation is rarely made in real time, and legitimate rallies produce the same surface signature — causing high false positives that make automated flagging untrustworthy today.</a:t>
            </a:r>
            <a:endParaRPr lang="en-US" sz="1400" dirty="0"/>
          </a:p>
          <a:p>
            <a:pPr marL="0" indent="0">
              <a:buNone/>
            </a:pPr>
            <a:r>
              <a:rPr lang="en-US" sz="1600" b="1" dirty="0">
                <a:solidFill>
                  <a:schemeClr val="accent1">
                    <a:lumMod val="50000"/>
                  </a:schemeClr>
                </a:solidFill>
                <a:latin typeface="Calibri" pitchFamily="34" charset="0"/>
                <a:ea typeface="Calibri" pitchFamily="34" charset="-122"/>
                <a:cs typeface="Calibri" pitchFamily="34" charset="-120"/>
              </a:rPr>
              <a:t>Objectives</a:t>
            </a:r>
          </a:p>
          <a:p>
            <a:pPr marL="177800" indent="-177800">
              <a:spcAft>
                <a:spcPts val="700"/>
              </a:spcAft>
              <a:buSzPct val="100000"/>
            </a:pPr>
            <a:r>
              <a:rPr lang="en-US" sz="1400" dirty="0">
                <a:solidFill>
                  <a:srgbClr val="222222"/>
                </a:solidFill>
                <a:latin typeface="Calibri" pitchFamily="34" charset="0"/>
                <a:ea typeface="Calibri" pitchFamily="34" charset="-122"/>
                <a:cs typeface="Calibri" pitchFamily="34" charset="-120"/>
              </a:rPr>
              <a:t>Build a signal-fusion pipeline that computes rolling mention-volume/sentiment spikes (</a:t>
            </a:r>
            <a:r>
              <a:rPr lang="en-US" sz="1400" dirty="0" err="1">
                <a:solidFill>
                  <a:srgbClr val="222222"/>
                </a:solidFill>
                <a:latin typeface="Calibri" pitchFamily="34" charset="0"/>
                <a:ea typeface="Calibri" pitchFamily="34" charset="-122"/>
                <a:cs typeface="Calibri" pitchFamily="34" charset="-120"/>
              </a:rPr>
              <a:t>FinBERT</a:t>
            </a:r>
            <a:r>
              <a:rPr lang="en-US" sz="1400" dirty="0">
                <a:solidFill>
                  <a:srgbClr val="222222"/>
                </a:solidFill>
                <a:latin typeface="Calibri" pitchFamily="34" charset="0"/>
                <a:ea typeface="Calibri" pitchFamily="34" charset="-122"/>
                <a:cs typeface="Calibri" pitchFamily="34" charset="-120"/>
              </a:rPr>
              <a:t>) alongside price/volume anomaly features (volume z-score, lag-correlation, post-spike reversal), and scores candidate events with an </a:t>
            </a:r>
            <a:r>
              <a:rPr lang="en-US" sz="1400" dirty="0" err="1">
                <a:solidFill>
                  <a:srgbClr val="222222"/>
                </a:solidFill>
                <a:latin typeface="Calibri" pitchFamily="34" charset="0"/>
                <a:ea typeface="Calibri" pitchFamily="34" charset="-122"/>
                <a:cs typeface="Calibri" pitchFamily="34" charset="-120"/>
              </a:rPr>
              <a:t>XGBoost</a:t>
            </a:r>
            <a:r>
              <a:rPr lang="en-US" sz="1400" dirty="0">
                <a:solidFill>
                  <a:srgbClr val="222222"/>
                </a:solidFill>
                <a:latin typeface="Calibri" pitchFamily="34" charset="0"/>
                <a:ea typeface="Calibri" pitchFamily="34" charset="-122"/>
                <a:cs typeface="Calibri" pitchFamily="34" charset="-120"/>
              </a:rPr>
              <a:t>/</a:t>
            </a:r>
            <a:r>
              <a:rPr lang="en-US" sz="1400" dirty="0" err="1">
                <a:solidFill>
                  <a:srgbClr val="222222"/>
                </a:solidFill>
                <a:latin typeface="Calibri" pitchFamily="34" charset="0"/>
                <a:ea typeface="Calibri" pitchFamily="34" charset="-122"/>
                <a:cs typeface="Calibri" pitchFamily="34" charset="-120"/>
              </a:rPr>
              <a:t>LightGBM</a:t>
            </a:r>
            <a:r>
              <a:rPr lang="en-US" sz="1400" dirty="0">
                <a:solidFill>
                  <a:srgbClr val="222222"/>
                </a:solidFill>
                <a:latin typeface="Calibri" pitchFamily="34" charset="0"/>
                <a:ea typeface="Calibri" pitchFamily="34" charset="-122"/>
                <a:cs typeface="Calibri" pitchFamily="34" charset="-120"/>
              </a:rPr>
              <a:t> model.</a:t>
            </a:r>
            <a:endParaRPr lang="en-US" sz="1400" dirty="0"/>
          </a:p>
          <a:p>
            <a:pPr marL="177800" indent="-177800">
              <a:spcAft>
                <a:spcPts val="700"/>
              </a:spcAft>
              <a:buSzPct val="100000"/>
            </a:pPr>
            <a:r>
              <a:rPr lang="en-US" sz="1400" dirty="0">
                <a:solidFill>
                  <a:srgbClr val="222222"/>
                </a:solidFill>
                <a:latin typeface="Calibri" pitchFamily="34" charset="0"/>
                <a:ea typeface="Calibri" pitchFamily="34" charset="-122"/>
                <a:cs typeface="Calibri" pitchFamily="34" charset="-120"/>
              </a:rPr>
              <a:t>Validate detection quality against real, documented ground truth — SEC litigation releases naming actual manipulation cases — supplemented with synthetic injected cases for broader recall coverage, since real cases are few.</a:t>
            </a:r>
            <a:endParaRPr lang="en-US" sz="1400" dirty="0"/>
          </a:p>
          <a:p>
            <a:pPr marL="177800" indent="-177800">
              <a:spcAft>
                <a:spcPts val="700"/>
              </a:spcAft>
              <a:buSzPct val="100000"/>
            </a:pPr>
            <a:r>
              <a:rPr lang="en-US" sz="1400" dirty="0">
                <a:solidFill>
                  <a:srgbClr val="222222"/>
                </a:solidFill>
                <a:latin typeface="Calibri" pitchFamily="34" charset="0"/>
                <a:ea typeface="Calibri" pitchFamily="34" charset="-122"/>
                <a:cs typeface="Calibri" pitchFamily="34" charset="-120"/>
              </a:rPr>
              <a:t>Build a two-agent adversarial verification layer using </a:t>
            </a:r>
            <a:r>
              <a:rPr lang="en-US" sz="1400" dirty="0" err="1">
                <a:solidFill>
                  <a:srgbClr val="222222"/>
                </a:solidFill>
                <a:latin typeface="Calibri" pitchFamily="34" charset="0"/>
                <a:ea typeface="Calibri" pitchFamily="34" charset="-122"/>
                <a:cs typeface="Calibri" pitchFamily="34" charset="-120"/>
              </a:rPr>
              <a:t>LangGraph</a:t>
            </a:r>
            <a:r>
              <a:rPr lang="en-US" sz="1400" dirty="0">
                <a:solidFill>
                  <a:srgbClr val="222222"/>
                </a:solidFill>
                <a:latin typeface="Calibri" pitchFamily="34" charset="0"/>
                <a:ea typeface="Calibri" pitchFamily="34" charset="-122"/>
                <a:cs typeface="Calibri" pitchFamily="34" charset="-120"/>
              </a:rPr>
              <a:t>: a Prosecutor agent investigates and cites evidence (coordinated-posting patterns, timing clusters) for manipulation, while an independent Defense agent retrieves real news/SEC filings via RAG to search for a legitimate catalyst.</a:t>
            </a:r>
            <a:endParaRPr lang="en-US" sz="1400" dirty="0"/>
          </a:p>
          <a:p>
            <a:pPr marL="177800" indent="-177800">
              <a:spcAft>
                <a:spcPts val="700"/>
              </a:spcAft>
              <a:buSzPct val="100000"/>
            </a:pPr>
            <a:r>
              <a:rPr lang="en-US" sz="1400" dirty="0">
                <a:solidFill>
                  <a:srgbClr val="222222"/>
                </a:solidFill>
                <a:latin typeface="Calibri" pitchFamily="34" charset="0"/>
                <a:ea typeface="Calibri" pitchFamily="34" charset="-122"/>
                <a:cs typeface="Calibri" pitchFamily="34" charset="-120"/>
              </a:rPr>
              <a:t>Implement an adjudication step that combines both agents' evidence strength into a final verdict and confidence score, keeping both reports visible for auditability rather than hiding the disagreement.</a:t>
            </a:r>
            <a:endParaRPr lang="en-US" sz="1400" dirty="0"/>
          </a:p>
          <a:p>
            <a:pPr marL="177800" indent="-177800">
              <a:spcAft>
                <a:spcPts val="700"/>
              </a:spcAft>
              <a:buSzPct val="100000"/>
            </a:pPr>
            <a:r>
              <a:rPr lang="en-US" sz="1400" dirty="0">
                <a:solidFill>
                  <a:srgbClr val="222222"/>
                </a:solidFill>
                <a:latin typeface="Calibri" pitchFamily="34" charset="0"/>
                <a:ea typeface="Calibri" pitchFamily="34" charset="-122"/>
                <a:cs typeface="Calibri" pitchFamily="34" charset="-120"/>
              </a:rPr>
              <a:t>Quantify, with a measured comparison, how much the adversarial verification step reduces false positives versus a single-agent (prosecutor-only) baseline — this is the project's central, defensible claim.</a:t>
            </a:r>
            <a:endParaRPr lang="en-US" sz="1400" dirty="0"/>
          </a:p>
          <a:p>
            <a:pPr marL="177800" indent="-177800">
              <a:spcAft>
                <a:spcPts val="700"/>
              </a:spcAft>
              <a:buSzPct val="100000"/>
            </a:pPr>
            <a:r>
              <a:rPr lang="en-US" sz="1400" dirty="0">
                <a:solidFill>
                  <a:srgbClr val="222222"/>
                </a:solidFill>
                <a:latin typeface="Calibri" pitchFamily="34" charset="0"/>
                <a:ea typeface="Calibri" pitchFamily="34" charset="-122"/>
                <a:cs typeface="Calibri" pitchFamily="34" charset="-120"/>
              </a:rPr>
              <a:t>Deploy the complete pipeline (</a:t>
            </a:r>
            <a:r>
              <a:rPr lang="en-US" sz="1400" dirty="0" err="1">
                <a:solidFill>
                  <a:srgbClr val="222222"/>
                </a:solidFill>
                <a:latin typeface="Calibri" pitchFamily="34" charset="0"/>
                <a:ea typeface="Calibri" pitchFamily="34" charset="-122"/>
                <a:cs typeface="Calibri" pitchFamily="34" charset="-120"/>
              </a:rPr>
              <a:t>FastAPI</a:t>
            </a:r>
            <a:r>
              <a:rPr lang="en-US" sz="1400" dirty="0">
                <a:solidFill>
                  <a:srgbClr val="222222"/>
                </a:solidFill>
                <a:latin typeface="Calibri" pitchFamily="34" charset="0"/>
                <a:ea typeface="Calibri" pitchFamily="34" charset="-122"/>
                <a:cs typeface="Calibri" pitchFamily="34" charset="-120"/>
              </a:rPr>
              <a:t> backend + </a:t>
            </a:r>
            <a:r>
              <a:rPr lang="en-US" sz="1400" dirty="0" err="1">
                <a:solidFill>
                  <a:srgbClr val="222222"/>
                </a:solidFill>
                <a:latin typeface="Calibri" pitchFamily="34" charset="0"/>
                <a:ea typeface="Calibri" pitchFamily="34" charset="-122"/>
                <a:cs typeface="Calibri" pitchFamily="34" charset="-120"/>
              </a:rPr>
              <a:t>Streamlit</a:t>
            </a:r>
            <a:r>
              <a:rPr lang="en-US" sz="1400" dirty="0">
                <a:solidFill>
                  <a:srgbClr val="222222"/>
                </a:solidFill>
                <a:latin typeface="Calibri" pitchFamily="34" charset="0"/>
                <a:ea typeface="Calibri" pitchFamily="34" charset="-122"/>
                <a:cs typeface="Calibri" pitchFamily="34" charset="-120"/>
              </a:rPr>
              <a:t> dashboard) on Microsoft Azure Container Apps with GitHub Actions CI/CD.</a:t>
            </a:r>
            <a:endParaRPr lang="en-US" sz="1400" dirty="0"/>
          </a:p>
          <a:p>
            <a:pPr marL="0" indent="0">
              <a:buNone/>
            </a:pPr>
            <a:endParaRPr lang="en-IN" dirty="0"/>
          </a:p>
        </p:txBody>
      </p:sp>
    </p:spTree>
    <p:extLst>
      <p:ext uri="{BB962C8B-B14F-4D97-AF65-F5344CB8AC3E}">
        <p14:creationId xmlns:p14="http://schemas.microsoft.com/office/powerpoint/2010/main" val="2407887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EFCA24-150D-CF55-4C0B-D334868ED22E}"/>
              </a:ext>
            </a:extLst>
          </p:cNvPr>
          <p:cNvSpPr>
            <a:spLocks noGrp="1"/>
          </p:cNvSpPr>
          <p:nvPr>
            <p:ph idx="1"/>
          </p:nvPr>
        </p:nvSpPr>
        <p:spPr>
          <a:xfrm>
            <a:off x="603504" y="603504"/>
            <a:ext cx="10750296" cy="5573459"/>
          </a:xfrm>
        </p:spPr>
        <p:txBody>
          <a:bodyPr>
            <a:normAutofit/>
          </a:bodyPr>
          <a:lstStyle/>
          <a:p>
            <a:pPr marL="0" indent="0">
              <a:buNone/>
            </a:pPr>
            <a:r>
              <a:rPr lang="en-US" sz="1600" b="1" dirty="0">
                <a:solidFill>
                  <a:srgbClr val="4A1942"/>
                </a:solidFill>
                <a:latin typeface="Calibri" pitchFamily="34" charset="0"/>
                <a:ea typeface="Calibri" pitchFamily="34" charset="-122"/>
                <a:cs typeface="Calibri" pitchFamily="34" charset="-120"/>
              </a:rPr>
              <a:t>Dataset — Collection &amp; Relevance</a:t>
            </a:r>
          </a:p>
          <a:p>
            <a:pPr marL="177800" indent="-177800">
              <a:spcAft>
                <a:spcPts val="600"/>
              </a:spcAft>
              <a:buSzPct val="100000"/>
            </a:pPr>
            <a:r>
              <a:rPr lang="en-US" sz="1400" dirty="0">
                <a:solidFill>
                  <a:srgbClr val="222222"/>
                </a:solidFill>
                <a:latin typeface="Calibri" pitchFamily="34" charset="0"/>
                <a:ea typeface="Calibri" pitchFamily="34" charset="-122"/>
                <a:cs typeface="Calibri" pitchFamily="34" charset="-120"/>
              </a:rPr>
              <a:t>Reddit/WSB posts — collected via existing public Kaggle datasets (e.g., </a:t>
            </a:r>
            <a:r>
              <a:rPr lang="en-US" sz="1400" dirty="0" err="1">
                <a:solidFill>
                  <a:srgbClr val="222222"/>
                </a:solidFill>
                <a:latin typeface="Calibri" pitchFamily="34" charset="0"/>
                <a:ea typeface="Calibri" pitchFamily="34" charset="-122"/>
                <a:cs typeface="Calibri" pitchFamily="34" charset="-120"/>
              </a:rPr>
              <a:t>gpreda</a:t>
            </a:r>
            <a:r>
              <a:rPr lang="en-US" sz="1400" dirty="0">
                <a:solidFill>
                  <a:srgbClr val="222222"/>
                </a:solidFill>
                <a:latin typeface="Calibri" pitchFamily="34" charset="0"/>
                <a:ea typeface="Calibri" pitchFamily="34" charset="-122"/>
                <a:cs typeface="Calibri" pitchFamily="34" charset="-120"/>
              </a:rPr>
              <a:t>/</a:t>
            </a:r>
            <a:r>
              <a:rPr lang="en-US" sz="1400" dirty="0" err="1">
                <a:solidFill>
                  <a:srgbClr val="222222"/>
                </a:solidFill>
                <a:latin typeface="Calibri" pitchFamily="34" charset="0"/>
                <a:ea typeface="Calibri" pitchFamily="34" charset="-122"/>
                <a:cs typeface="Calibri" pitchFamily="34" charset="-120"/>
              </a:rPr>
              <a:t>reddi</a:t>
            </a:r>
            <a:r>
              <a:rPr lang="en-US" sz="1400" dirty="0">
                <a:solidFill>
                  <a:srgbClr val="222222"/>
                </a:solidFill>
                <a:latin typeface="Calibri" pitchFamily="34" charset="0"/>
                <a:ea typeface="Calibri" pitchFamily="34" charset="-122"/>
                <a:cs typeface="Calibri" pitchFamily="34" charset="-120"/>
              </a:rPr>
              <a:t>-</a:t>
            </a:r>
            <a:r>
              <a:rPr lang="en-US" sz="1400" dirty="0" err="1">
                <a:solidFill>
                  <a:srgbClr val="222222"/>
                </a:solidFill>
                <a:latin typeface="Calibri" pitchFamily="34" charset="0"/>
                <a:ea typeface="Calibri" pitchFamily="34" charset="-122"/>
                <a:cs typeface="Calibri" pitchFamily="34" charset="-120"/>
              </a:rPr>
              <a:t>wallstreetsbets</a:t>
            </a:r>
            <a:r>
              <a:rPr lang="en-US" sz="1400" dirty="0">
                <a:solidFill>
                  <a:srgbClr val="222222"/>
                </a:solidFill>
                <a:latin typeface="Calibri" pitchFamily="34" charset="0"/>
                <a:ea typeface="Calibri" pitchFamily="34" charset="-122"/>
                <a:cs typeface="Calibri" pitchFamily="34" charset="-120"/>
              </a:rPr>
              <a:t>-posts), no scraping needed; gives real hype/mention signal.</a:t>
            </a:r>
            <a:endParaRPr lang="en-US" sz="1400" dirty="0"/>
          </a:p>
          <a:p>
            <a:pPr marL="177800" indent="-177800">
              <a:spcAft>
                <a:spcPts val="600"/>
              </a:spcAft>
              <a:buSzPct val="100000"/>
            </a:pPr>
            <a:r>
              <a:rPr lang="en-US" sz="1400" dirty="0">
                <a:solidFill>
                  <a:srgbClr val="222222"/>
                </a:solidFill>
                <a:latin typeface="Calibri" pitchFamily="34" charset="0"/>
                <a:ea typeface="Calibri" pitchFamily="34" charset="-122"/>
                <a:cs typeface="Calibri" pitchFamily="34" charset="-120"/>
              </a:rPr>
              <a:t>Price &amp; volume data — collected via </a:t>
            </a:r>
            <a:r>
              <a:rPr lang="en-US" sz="1400" dirty="0" err="1">
                <a:solidFill>
                  <a:srgbClr val="222222"/>
                </a:solidFill>
                <a:latin typeface="Calibri" pitchFamily="34" charset="0"/>
                <a:ea typeface="Calibri" pitchFamily="34" charset="-122"/>
                <a:cs typeface="Calibri" pitchFamily="34" charset="-120"/>
              </a:rPr>
              <a:t>yfinance</a:t>
            </a:r>
            <a:r>
              <a:rPr lang="en-US" sz="1400" dirty="0">
                <a:solidFill>
                  <a:srgbClr val="222222"/>
                </a:solidFill>
                <a:latin typeface="Calibri" pitchFamily="34" charset="0"/>
                <a:ea typeface="Calibri" pitchFamily="34" charset="-122"/>
                <a:cs typeface="Calibri" pitchFamily="34" charset="-120"/>
              </a:rPr>
              <a:t>/Alpha Vantage for tickers appearing in the posts; gives the market-side anomaly signal to correlate against.</a:t>
            </a:r>
            <a:endParaRPr lang="en-US" sz="1400" dirty="0"/>
          </a:p>
          <a:p>
            <a:pPr marL="177800" indent="-177800">
              <a:spcAft>
                <a:spcPts val="600"/>
              </a:spcAft>
              <a:buSzPct val="100000"/>
            </a:pPr>
            <a:r>
              <a:rPr lang="en-US" sz="1400" dirty="0">
                <a:solidFill>
                  <a:srgbClr val="222222"/>
                </a:solidFill>
                <a:latin typeface="Calibri" pitchFamily="34" charset="0"/>
                <a:ea typeface="Calibri" pitchFamily="34" charset="-122"/>
                <a:cs typeface="Calibri" pitchFamily="34" charset="-120"/>
              </a:rPr>
              <a:t>News, SEC filings &amp; litigation releases — collected via SEC EDGAR and </a:t>
            </a:r>
            <a:r>
              <a:rPr lang="en-US" sz="1400" dirty="0" err="1">
                <a:solidFill>
                  <a:srgbClr val="222222"/>
                </a:solidFill>
                <a:latin typeface="Calibri" pitchFamily="34" charset="0"/>
                <a:ea typeface="Calibri" pitchFamily="34" charset="-122"/>
                <a:cs typeface="Calibri" pitchFamily="34" charset="-120"/>
              </a:rPr>
              <a:t>NewsAPI</a:t>
            </a:r>
            <a:r>
              <a:rPr lang="en-US" sz="1400" dirty="0">
                <a:solidFill>
                  <a:srgbClr val="222222"/>
                </a:solidFill>
                <a:latin typeface="Calibri" pitchFamily="34" charset="0"/>
                <a:ea typeface="Calibri" pitchFamily="34" charset="-122"/>
                <a:cs typeface="Calibri" pitchFamily="34" charset="-120"/>
              </a:rPr>
              <a:t>; used as the Defense agent's grounding evidence and as real ground truth for evaluation.</a:t>
            </a:r>
            <a:endParaRPr lang="en-US" sz="1400" dirty="0"/>
          </a:p>
          <a:p>
            <a:pPr marL="177800" indent="-177800">
              <a:spcAft>
                <a:spcPts val="600"/>
              </a:spcAft>
              <a:buSzPct val="100000"/>
            </a:pPr>
            <a:r>
              <a:rPr lang="en-US" sz="1400" dirty="0">
                <a:solidFill>
                  <a:srgbClr val="222222"/>
                </a:solidFill>
                <a:latin typeface="Calibri" pitchFamily="34" charset="0"/>
                <a:ea typeface="Calibri" pitchFamily="34" charset="-122"/>
                <a:cs typeface="Calibri" pitchFamily="34" charset="-120"/>
              </a:rPr>
              <a:t>Relevance: every source maps directly to an objective — posts drive detection, price data confirms the anomaly, filings/news ground the verification step.</a:t>
            </a:r>
          </a:p>
          <a:p>
            <a:pPr marL="0" indent="0">
              <a:spcAft>
                <a:spcPts val="600"/>
              </a:spcAft>
              <a:buSzPct val="100000"/>
              <a:buNone/>
            </a:pPr>
            <a:r>
              <a:rPr lang="en-US" sz="1600" b="1" dirty="0">
                <a:solidFill>
                  <a:srgbClr val="4A1942"/>
                </a:solidFill>
                <a:latin typeface="Calibri" pitchFamily="34" charset="0"/>
                <a:ea typeface="Calibri" pitchFamily="34" charset="-122"/>
                <a:cs typeface="Calibri" pitchFamily="34" charset="-120"/>
              </a:rPr>
              <a:t>Technical Stack				Expected Outcomes					</a:t>
            </a:r>
            <a:endParaRPr lang="en-US" sz="1600" dirty="0"/>
          </a:p>
          <a:p>
            <a:pPr marL="177800" indent="-177800">
              <a:spcAft>
                <a:spcPts val="500"/>
              </a:spcAft>
              <a:buSzPct val="100000"/>
            </a:pPr>
            <a:r>
              <a:rPr lang="en-US" sz="1400" dirty="0" err="1">
                <a:solidFill>
                  <a:srgbClr val="222222"/>
                </a:solidFill>
                <a:latin typeface="Calibri" pitchFamily="34" charset="0"/>
                <a:ea typeface="Calibri" pitchFamily="34" charset="-122"/>
                <a:cs typeface="Calibri" pitchFamily="34" charset="-120"/>
              </a:rPr>
              <a:t>FinBERT</a:t>
            </a:r>
            <a:r>
              <a:rPr lang="en-US" sz="1400" dirty="0">
                <a:solidFill>
                  <a:srgbClr val="222222"/>
                </a:solidFill>
                <a:latin typeface="Calibri" pitchFamily="34" charset="0"/>
                <a:ea typeface="Calibri" pitchFamily="34" charset="-122"/>
                <a:cs typeface="Calibri" pitchFamily="34" charset="-120"/>
              </a:rPr>
              <a:t> (sentiment)				A working pipeline that flags candidate manipulation events from real data.</a:t>
            </a:r>
            <a:endParaRPr lang="en-US" sz="1400" dirty="0"/>
          </a:p>
          <a:p>
            <a:pPr marL="177800" indent="-177800">
              <a:spcAft>
                <a:spcPts val="500"/>
              </a:spcAft>
              <a:buSzPct val="100000"/>
            </a:pPr>
            <a:r>
              <a:rPr lang="en-US" sz="1400" dirty="0" err="1">
                <a:solidFill>
                  <a:srgbClr val="222222"/>
                </a:solidFill>
                <a:latin typeface="Calibri" pitchFamily="34" charset="0"/>
                <a:ea typeface="Calibri" pitchFamily="34" charset="-122"/>
                <a:cs typeface="Calibri" pitchFamily="34" charset="-120"/>
              </a:rPr>
              <a:t>XGBoost</a:t>
            </a:r>
            <a:r>
              <a:rPr lang="en-US" sz="1400" dirty="0">
                <a:solidFill>
                  <a:srgbClr val="222222"/>
                </a:solidFill>
                <a:latin typeface="Calibri" pitchFamily="34" charset="0"/>
                <a:ea typeface="Calibri" pitchFamily="34" charset="-122"/>
                <a:cs typeface="Calibri" pitchFamily="34" charset="-120"/>
              </a:rPr>
              <a:t> / </a:t>
            </a:r>
            <a:r>
              <a:rPr lang="en-US" sz="1400" dirty="0" err="1">
                <a:solidFill>
                  <a:srgbClr val="222222"/>
                </a:solidFill>
                <a:latin typeface="Calibri" pitchFamily="34" charset="0"/>
                <a:ea typeface="Calibri" pitchFamily="34" charset="-122"/>
                <a:cs typeface="Calibri" pitchFamily="34" charset="-120"/>
              </a:rPr>
              <a:t>LightGBM</a:t>
            </a:r>
            <a:r>
              <a:rPr lang="en-US" sz="1400" dirty="0">
                <a:solidFill>
                  <a:srgbClr val="222222"/>
                </a:solidFill>
                <a:latin typeface="Calibri" pitchFamily="34" charset="0"/>
                <a:ea typeface="Calibri" pitchFamily="34" charset="-122"/>
                <a:cs typeface="Calibri" pitchFamily="34" charset="-120"/>
              </a:rPr>
              <a:t> (anomaly scoring)		Measured reduction in false positives from the adversarial verification step vs. a 					single-agent baseline.</a:t>
            </a:r>
            <a:endParaRPr lang="en-US" sz="1400" dirty="0"/>
          </a:p>
          <a:p>
            <a:pPr marL="177800" indent="-177800">
              <a:spcAft>
                <a:spcPts val="500"/>
              </a:spcAft>
              <a:buSzPct val="100000"/>
            </a:pPr>
            <a:r>
              <a:rPr lang="en-US" sz="1400" dirty="0" err="1">
                <a:solidFill>
                  <a:srgbClr val="222222"/>
                </a:solidFill>
                <a:latin typeface="Calibri" pitchFamily="34" charset="0"/>
                <a:ea typeface="Calibri" pitchFamily="34" charset="-122"/>
                <a:cs typeface="Calibri" pitchFamily="34" charset="-120"/>
              </a:rPr>
              <a:t>LangGraph</a:t>
            </a:r>
            <a:r>
              <a:rPr lang="en-US" sz="1400" dirty="0">
                <a:solidFill>
                  <a:srgbClr val="222222"/>
                </a:solidFill>
                <a:latin typeface="Calibri" pitchFamily="34" charset="0"/>
                <a:ea typeface="Calibri" pitchFamily="34" charset="-122"/>
                <a:cs typeface="Calibri" pitchFamily="34" charset="-120"/>
              </a:rPr>
              <a:t> (agent orchestration)			An auditable dashboard showing both agents' evidence and the final verdict.</a:t>
            </a:r>
            <a:endParaRPr lang="en-US" sz="1400" dirty="0"/>
          </a:p>
          <a:p>
            <a:pPr marL="177800" indent="-177800">
              <a:spcAft>
                <a:spcPts val="500"/>
              </a:spcAft>
              <a:buSzPct val="100000"/>
            </a:pPr>
            <a:r>
              <a:rPr lang="en-US" sz="1400" dirty="0" err="1">
                <a:solidFill>
                  <a:srgbClr val="222222"/>
                </a:solidFill>
                <a:latin typeface="Calibri" pitchFamily="34" charset="0"/>
                <a:ea typeface="Calibri" pitchFamily="34" charset="-122"/>
                <a:cs typeface="Calibri" pitchFamily="34" charset="-120"/>
              </a:rPr>
              <a:t>ChromaDB</a:t>
            </a:r>
            <a:r>
              <a:rPr lang="en-US" sz="1400" dirty="0">
                <a:solidFill>
                  <a:srgbClr val="222222"/>
                </a:solidFill>
                <a:latin typeface="Calibri" pitchFamily="34" charset="0"/>
                <a:ea typeface="Calibri" pitchFamily="34" charset="-122"/>
                <a:cs typeface="Calibri" pitchFamily="34" charset="-120"/>
              </a:rPr>
              <a:t> / FAISS + Sentence Transformers (RAG)	A deployed, </a:t>
            </a:r>
            <a:r>
              <a:rPr lang="en-US" sz="1400" dirty="0" err="1">
                <a:solidFill>
                  <a:srgbClr val="222222"/>
                </a:solidFill>
                <a:latin typeface="Calibri" pitchFamily="34" charset="0"/>
                <a:ea typeface="Calibri" pitchFamily="34" charset="-122"/>
                <a:cs typeface="Calibri" pitchFamily="34" charset="-120"/>
              </a:rPr>
              <a:t>demoable</a:t>
            </a:r>
            <a:r>
              <a:rPr lang="en-US" sz="1400" dirty="0">
                <a:solidFill>
                  <a:srgbClr val="222222"/>
                </a:solidFill>
                <a:latin typeface="Calibri" pitchFamily="34" charset="0"/>
                <a:ea typeface="Calibri" pitchFamily="34" charset="-122"/>
                <a:cs typeface="Calibri" pitchFamily="34" charset="-120"/>
              </a:rPr>
              <a:t> system on Azure.</a:t>
            </a:r>
            <a:endParaRPr lang="en-US" sz="1400" dirty="0"/>
          </a:p>
          <a:p>
            <a:pPr marL="177800" indent="-177800">
              <a:spcAft>
                <a:spcPts val="500"/>
              </a:spcAft>
              <a:buSzPct val="100000"/>
            </a:pPr>
            <a:r>
              <a:rPr lang="en-US" sz="1400" dirty="0" err="1">
                <a:solidFill>
                  <a:srgbClr val="222222"/>
                </a:solidFill>
                <a:latin typeface="Calibri" pitchFamily="34" charset="0"/>
                <a:ea typeface="Calibri" pitchFamily="34" charset="-122"/>
                <a:cs typeface="Calibri" pitchFamily="34" charset="-120"/>
              </a:rPr>
              <a:t>FastAPI</a:t>
            </a:r>
            <a:r>
              <a:rPr lang="en-US" sz="1400" dirty="0">
                <a:solidFill>
                  <a:srgbClr val="222222"/>
                </a:solidFill>
                <a:latin typeface="Calibri" pitchFamily="34" charset="0"/>
                <a:ea typeface="Calibri" pitchFamily="34" charset="-122"/>
                <a:cs typeface="Calibri" pitchFamily="34" charset="-120"/>
              </a:rPr>
              <a:t> + </a:t>
            </a:r>
            <a:r>
              <a:rPr lang="en-US" sz="1400" dirty="0" err="1">
                <a:solidFill>
                  <a:srgbClr val="222222"/>
                </a:solidFill>
                <a:latin typeface="Calibri" pitchFamily="34" charset="0"/>
                <a:ea typeface="Calibri" pitchFamily="34" charset="-122"/>
                <a:cs typeface="Calibri" pitchFamily="34" charset="-120"/>
              </a:rPr>
              <a:t>Streamlit</a:t>
            </a:r>
            <a:endParaRPr lang="en-US" sz="1400" dirty="0"/>
          </a:p>
          <a:p>
            <a:pPr marL="177800" indent="-177800">
              <a:spcAft>
                <a:spcPts val="500"/>
              </a:spcAft>
              <a:buSzPct val="100000"/>
            </a:pPr>
            <a:r>
              <a:rPr lang="en-US" sz="1400" dirty="0">
                <a:solidFill>
                  <a:srgbClr val="222222"/>
                </a:solidFill>
                <a:latin typeface="Calibri" pitchFamily="34" charset="0"/>
                <a:ea typeface="Calibri" pitchFamily="34" charset="-122"/>
                <a:cs typeface="Calibri" pitchFamily="34" charset="-120"/>
              </a:rPr>
              <a:t>Docker  GitHub Actions CI/CD</a:t>
            </a:r>
            <a:endParaRPr lang="en-US" sz="1400" dirty="0"/>
          </a:p>
          <a:p>
            <a:pPr marL="0" indent="0">
              <a:spcAft>
                <a:spcPts val="600"/>
              </a:spcAft>
              <a:buSzPct val="100000"/>
              <a:buNone/>
            </a:pPr>
            <a:endParaRPr lang="en-US" sz="1600" dirty="0"/>
          </a:p>
          <a:p>
            <a:pPr marL="0" indent="0">
              <a:buNone/>
            </a:pPr>
            <a:endParaRPr lang="en-US" sz="1800" dirty="0"/>
          </a:p>
          <a:p>
            <a:endParaRPr lang="en-IN" dirty="0"/>
          </a:p>
        </p:txBody>
      </p:sp>
    </p:spTree>
    <p:extLst>
      <p:ext uri="{BB962C8B-B14F-4D97-AF65-F5344CB8AC3E}">
        <p14:creationId xmlns:p14="http://schemas.microsoft.com/office/powerpoint/2010/main" val="3725168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36778-7038-5316-FA64-1A9439A4F0CE}"/>
              </a:ext>
            </a:extLst>
          </p:cNvPr>
          <p:cNvSpPr>
            <a:spLocks noGrp="1"/>
          </p:cNvSpPr>
          <p:nvPr>
            <p:ph idx="1"/>
          </p:nvPr>
        </p:nvSpPr>
        <p:spPr>
          <a:xfrm>
            <a:off x="539496" y="484632"/>
            <a:ext cx="11192256" cy="6053328"/>
          </a:xfrm>
        </p:spPr>
        <p:txBody>
          <a:bodyPr>
            <a:normAutofit fontScale="92500" lnSpcReduction="10000"/>
          </a:bodyPr>
          <a:lstStyle/>
          <a:p>
            <a:pPr marL="0" indent="0">
              <a:buNone/>
            </a:pPr>
            <a:r>
              <a:rPr lang="en-US" sz="1900" b="1" dirty="0">
                <a:solidFill>
                  <a:schemeClr val="accent1">
                    <a:lumMod val="75000"/>
                  </a:schemeClr>
                </a:solidFill>
                <a:latin typeface="Calibri" pitchFamily="34" charset="0"/>
                <a:ea typeface="Calibri" pitchFamily="34" charset="-122"/>
                <a:cs typeface="Calibri" pitchFamily="34" charset="-120"/>
              </a:rPr>
              <a:t>2.NetPulse </a:t>
            </a:r>
            <a:r>
              <a:rPr lang="en-US" sz="1900" b="1" dirty="0" err="1">
                <a:solidFill>
                  <a:schemeClr val="accent1">
                    <a:lumMod val="75000"/>
                  </a:schemeClr>
                </a:solidFill>
                <a:latin typeface="Calibri" pitchFamily="34" charset="0"/>
                <a:ea typeface="Calibri" pitchFamily="34" charset="-122"/>
                <a:cs typeface="Calibri" pitchFamily="34" charset="-120"/>
              </a:rPr>
              <a:t>AI:Agentic</a:t>
            </a:r>
            <a:r>
              <a:rPr lang="en-US" sz="1900" b="1" dirty="0">
                <a:solidFill>
                  <a:schemeClr val="accent1">
                    <a:lumMod val="75000"/>
                  </a:schemeClr>
                </a:solidFill>
                <a:latin typeface="Calibri" pitchFamily="34" charset="0"/>
                <a:ea typeface="Calibri" pitchFamily="34" charset="-122"/>
                <a:cs typeface="Calibri" pitchFamily="34" charset="-120"/>
              </a:rPr>
              <a:t> Network Capacity Forecasting &amp; Optimization Platform</a:t>
            </a:r>
          </a:p>
          <a:p>
            <a:pPr marL="0" indent="0">
              <a:buNone/>
            </a:pPr>
            <a:r>
              <a:rPr lang="en-US" sz="1700" b="1" dirty="0">
                <a:solidFill>
                  <a:srgbClr val="0B4F6C"/>
                </a:solidFill>
                <a:latin typeface="Calibri" pitchFamily="34" charset="0"/>
                <a:ea typeface="Calibri" pitchFamily="34" charset="-122"/>
                <a:cs typeface="Calibri" pitchFamily="34" charset="-120"/>
              </a:rPr>
              <a:t>Problem Statement</a:t>
            </a:r>
          </a:p>
          <a:p>
            <a:r>
              <a:rPr lang="en-US" sz="1600" dirty="0">
                <a:solidFill>
                  <a:srgbClr val="222222"/>
                </a:solidFill>
                <a:latin typeface="Calibri" pitchFamily="34" charset="0"/>
                <a:ea typeface="Calibri" pitchFamily="34" charset="-122"/>
                <a:cs typeface="Calibri" pitchFamily="34" charset="-120"/>
              </a:rPr>
              <a:t>Network congestion builds up at specific towers at specific times, but operators typically only find out once customers already notice slow data or dropped calls. This happens because most monitoring shows current load, not what's about to happen next; and even when a problem is predicted, fixing it means solving a real optimization problem — how much capacity to move from a nearby tower without overloading it — which is slow and error-prone to do manually.</a:t>
            </a:r>
          </a:p>
          <a:p>
            <a:pPr marL="0" indent="0">
              <a:buNone/>
            </a:pPr>
            <a:r>
              <a:rPr lang="en-US" sz="1700" b="1" dirty="0">
                <a:solidFill>
                  <a:srgbClr val="0B4F6C"/>
                </a:solidFill>
                <a:latin typeface="Calibri" pitchFamily="34" charset="0"/>
                <a:ea typeface="Calibri" pitchFamily="34" charset="-122"/>
                <a:cs typeface="Calibri" pitchFamily="34" charset="-120"/>
              </a:rPr>
              <a:t>Objectives</a:t>
            </a:r>
            <a:endParaRPr lang="en-US" sz="1700" dirty="0"/>
          </a:p>
          <a:p>
            <a:pPr marL="177800" indent="-177800">
              <a:spcAft>
                <a:spcPts val="700"/>
              </a:spcAft>
              <a:buSzPct val="100000"/>
            </a:pPr>
            <a:r>
              <a:rPr lang="en-US" sz="1600" dirty="0">
                <a:solidFill>
                  <a:srgbClr val="222222"/>
                </a:solidFill>
                <a:latin typeface="Calibri" pitchFamily="34" charset="0"/>
                <a:ea typeface="Calibri" pitchFamily="34" charset="-122"/>
                <a:cs typeface="Calibri" pitchFamily="34" charset="-120"/>
              </a:rPr>
              <a:t>Build a per-cell short-horizon (1-4 hour) load forecasting model (</a:t>
            </a:r>
            <a:r>
              <a:rPr lang="en-US" sz="1600" dirty="0" err="1">
                <a:solidFill>
                  <a:srgbClr val="222222"/>
                </a:solidFill>
                <a:latin typeface="Calibri" pitchFamily="34" charset="0"/>
                <a:ea typeface="Calibri" pitchFamily="34" charset="-122"/>
                <a:cs typeface="Calibri" pitchFamily="34" charset="-120"/>
              </a:rPr>
              <a:t>LightGBM</a:t>
            </a:r>
            <a:r>
              <a:rPr lang="en-US" sz="1600" dirty="0">
                <a:solidFill>
                  <a:srgbClr val="222222"/>
                </a:solidFill>
                <a:latin typeface="Calibri" pitchFamily="34" charset="0"/>
                <a:ea typeface="Calibri" pitchFamily="34" charset="-122"/>
                <a:cs typeface="Calibri" pitchFamily="34" charset="-120"/>
              </a:rPr>
              <a:t> or </a:t>
            </a:r>
            <a:r>
              <a:rPr lang="en-US" sz="1600" dirty="0" err="1">
                <a:solidFill>
                  <a:srgbClr val="222222"/>
                </a:solidFill>
                <a:latin typeface="Calibri" pitchFamily="34" charset="0"/>
                <a:ea typeface="Calibri" pitchFamily="34" charset="-122"/>
                <a:cs typeface="Calibri" pitchFamily="34" charset="-120"/>
              </a:rPr>
              <a:t>PatchTST</a:t>
            </a:r>
            <a:r>
              <a:rPr lang="en-US" sz="1600" dirty="0">
                <a:solidFill>
                  <a:srgbClr val="222222"/>
                </a:solidFill>
                <a:latin typeface="Calibri" pitchFamily="34" charset="0"/>
                <a:ea typeface="Calibri" pitchFamily="34" charset="-122"/>
                <a:cs typeface="Calibri" pitchFamily="34" charset="-120"/>
              </a:rPr>
              <a:t>) on real Milan CDR activity data, and validate it beats a seasonal-naive baseline on MAE/MAPE.</a:t>
            </a:r>
            <a:endParaRPr lang="en-US" sz="1600" dirty="0"/>
          </a:p>
          <a:p>
            <a:pPr marL="177800" indent="-177800">
              <a:spcAft>
                <a:spcPts val="700"/>
              </a:spcAft>
              <a:buSzPct val="100000"/>
            </a:pPr>
            <a:r>
              <a:rPr lang="en-US" sz="1600" dirty="0">
                <a:solidFill>
                  <a:srgbClr val="222222"/>
                </a:solidFill>
                <a:latin typeface="Calibri" pitchFamily="34" charset="0"/>
                <a:ea typeface="Calibri" pitchFamily="34" charset="-122"/>
                <a:cs typeface="Calibri" pitchFamily="34" charset="-120"/>
              </a:rPr>
              <a:t>Define per-cell (not global) congestion-risk thresholds from historical percentiles, since 'busy' means different things in different grid cells across the city.</a:t>
            </a:r>
            <a:endParaRPr lang="en-US" sz="1600" dirty="0"/>
          </a:p>
          <a:p>
            <a:pPr marL="177800" indent="-177800">
              <a:spcAft>
                <a:spcPts val="700"/>
              </a:spcAft>
              <a:buSzPct val="100000"/>
            </a:pPr>
            <a:r>
              <a:rPr lang="en-US" sz="1600" dirty="0">
                <a:solidFill>
                  <a:srgbClr val="222222"/>
                </a:solidFill>
                <a:latin typeface="Calibri" pitchFamily="34" charset="0"/>
                <a:ea typeface="Calibri" pitchFamily="34" charset="-122"/>
                <a:cs typeface="Calibri" pitchFamily="34" charset="-120"/>
              </a:rPr>
              <a:t>Build a </a:t>
            </a:r>
            <a:r>
              <a:rPr lang="en-US" sz="1600" dirty="0" err="1">
                <a:solidFill>
                  <a:srgbClr val="222222"/>
                </a:solidFill>
                <a:latin typeface="Calibri" pitchFamily="34" charset="0"/>
                <a:ea typeface="Calibri" pitchFamily="34" charset="-122"/>
                <a:cs typeface="Calibri" pitchFamily="34" charset="-120"/>
              </a:rPr>
              <a:t>LangGraph</a:t>
            </a:r>
            <a:r>
              <a:rPr lang="en-US" sz="1600" dirty="0">
                <a:solidFill>
                  <a:srgbClr val="222222"/>
                </a:solidFill>
                <a:latin typeface="Calibri" pitchFamily="34" charset="0"/>
                <a:ea typeface="Calibri" pitchFamily="34" charset="-122"/>
                <a:cs typeface="Calibri" pitchFamily="34" charset="-120"/>
              </a:rPr>
              <a:t> diagnosis agent that classifies a flagged spike as routine or anomalous by correlating neighboring cells' forecasts (localized vs. city-wide surge) and cross-referencing a real Milan public event/holiday calendar.</a:t>
            </a:r>
            <a:endParaRPr lang="en-US" sz="1600" dirty="0"/>
          </a:p>
          <a:p>
            <a:pPr marL="177800" indent="-177800">
              <a:spcAft>
                <a:spcPts val="700"/>
              </a:spcAft>
              <a:buSzPct val="100000"/>
            </a:pPr>
            <a:r>
              <a:rPr lang="en-US" sz="1600" dirty="0">
                <a:solidFill>
                  <a:srgbClr val="222222"/>
                </a:solidFill>
                <a:latin typeface="Calibri" pitchFamily="34" charset="0"/>
                <a:ea typeface="Calibri" pitchFamily="34" charset="-122"/>
                <a:cs typeface="Calibri" pitchFamily="34" charset="-120"/>
              </a:rPr>
              <a:t>For routine, high-confidence cases, formulate reallocation as a constrained linear-programming problem and solve it with Google OR-Tools — computing the exact feasible capacity shift from neighboring cells, never letting the LLM invent the numbers.</a:t>
            </a:r>
            <a:endParaRPr lang="en-US" sz="1600" dirty="0"/>
          </a:p>
          <a:p>
            <a:pPr marL="177800" indent="-177800">
              <a:spcAft>
                <a:spcPts val="700"/>
              </a:spcAft>
              <a:buSzPct val="100000"/>
            </a:pPr>
            <a:r>
              <a:rPr lang="en-US" sz="1600" dirty="0">
                <a:solidFill>
                  <a:srgbClr val="222222"/>
                </a:solidFill>
                <a:latin typeface="Calibri" pitchFamily="34" charset="0"/>
                <a:ea typeface="Calibri" pitchFamily="34" charset="-122"/>
                <a:cs typeface="Calibri" pitchFamily="34" charset="-120"/>
              </a:rPr>
              <a:t>Escalate genuinely anomalous cases to a human operator with a full diagnosis report instead of taking an automatic action.</a:t>
            </a:r>
            <a:endParaRPr lang="en-US" sz="1600" dirty="0"/>
          </a:p>
          <a:p>
            <a:pPr marL="177800" indent="-177800">
              <a:spcAft>
                <a:spcPts val="700"/>
              </a:spcAft>
              <a:buSzPct val="100000"/>
            </a:pPr>
            <a:r>
              <a:rPr lang="en-US" sz="1600" dirty="0">
                <a:solidFill>
                  <a:srgbClr val="222222"/>
                </a:solidFill>
                <a:latin typeface="Calibri" pitchFamily="34" charset="0"/>
                <a:ea typeface="Calibri" pitchFamily="34" charset="-122"/>
                <a:cs typeface="Calibri" pitchFamily="34" charset="-120"/>
              </a:rPr>
              <a:t>Validate the reallocation's real-world benefit via counterfactual simulation: apply the solver's recommendation to real historical congestion events and measure how much excess load would have been resolved versus a do-nothing baseline.</a:t>
            </a:r>
            <a:endParaRPr lang="en-US" sz="1600" dirty="0"/>
          </a:p>
          <a:p>
            <a:pPr marL="177800" indent="-177800">
              <a:spcAft>
                <a:spcPts val="700"/>
              </a:spcAft>
              <a:buSzPct val="100000"/>
            </a:pPr>
            <a:r>
              <a:rPr lang="en-US" sz="1600" dirty="0">
                <a:solidFill>
                  <a:srgbClr val="222222"/>
                </a:solidFill>
                <a:latin typeface="Calibri" pitchFamily="34" charset="0"/>
                <a:ea typeface="Calibri" pitchFamily="34" charset="-122"/>
                <a:cs typeface="Calibri" pitchFamily="34" charset="-120"/>
              </a:rPr>
              <a:t>Deploy the complete pipeline (</a:t>
            </a:r>
            <a:r>
              <a:rPr lang="en-US" sz="1600" dirty="0" err="1">
                <a:solidFill>
                  <a:srgbClr val="222222"/>
                </a:solidFill>
                <a:latin typeface="Calibri" pitchFamily="34" charset="0"/>
                <a:ea typeface="Calibri" pitchFamily="34" charset="-122"/>
                <a:cs typeface="Calibri" pitchFamily="34" charset="-120"/>
              </a:rPr>
              <a:t>FastAPI</a:t>
            </a:r>
            <a:r>
              <a:rPr lang="en-US" sz="1600" dirty="0">
                <a:solidFill>
                  <a:srgbClr val="222222"/>
                </a:solidFill>
                <a:latin typeface="Calibri" pitchFamily="34" charset="0"/>
                <a:ea typeface="Calibri" pitchFamily="34" charset="-122"/>
                <a:cs typeface="Calibri" pitchFamily="34" charset="-120"/>
              </a:rPr>
              <a:t> backend + </a:t>
            </a:r>
            <a:r>
              <a:rPr lang="en-US" sz="1600" dirty="0" err="1">
                <a:solidFill>
                  <a:srgbClr val="222222"/>
                </a:solidFill>
                <a:latin typeface="Calibri" pitchFamily="34" charset="0"/>
                <a:ea typeface="Calibri" pitchFamily="34" charset="-122"/>
                <a:cs typeface="Calibri" pitchFamily="34" charset="-120"/>
              </a:rPr>
              <a:t>Streamlit</a:t>
            </a:r>
            <a:r>
              <a:rPr lang="en-US" sz="1600" dirty="0">
                <a:solidFill>
                  <a:srgbClr val="222222"/>
                </a:solidFill>
                <a:latin typeface="Calibri" pitchFamily="34" charset="0"/>
                <a:ea typeface="Calibri" pitchFamily="34" charset="-122"/>
                <a:cs typeface="Calibri" pitchFamily="34" charset="-120"/>
              </a:rPr>
              <a:t>/</a:t>
            </a:r>
            <a:r>
              <a:rPr lang="en-US" sz="1600" dirty="0" err="1">
                <a:solidFill>
                  <a:srgbClr val="222222"/>
                </a:solidFill>
                <a:latin typeface="Calibri" pitchFamily="34" charset="0"/>
                <a:ea typeface="Calibri" pitchFamily="34" charset="-122"/>
                <a:cs typeface="Calibri" pitchFamily="34" charset="-120"/>
              </a:rPr>
              <a:t>Plotly</a:t>
            </a:r>
            <a:r>
              <a:rPr lang="en-US" sz="1600" dirty="0">
                <a:solidFill>
                  <a:srgbClr val="222222"/>
                </a:solidFill>
                <a:latin typeface="Calibri" pitchFamily="34" charset="0"/>
                <a:ea typeface="Calibri" pitchFamily="34" charset="-122"/>
                <a:cs typeface="Calibri" pitchFamily="34" charset="-120"/>
              </a:rPr>
              <a:t> map dashboard) on Microsoft Azure Container Apps with GitHub Actions CI/CD.</a:t>
            </a:r>
            <a:endParaRPr lang="en-US" sz="1600" dirty="0"/>
          </a:p>
          <a:p>
            <a:endParaRPr lang="en-US" dirty="0"/>
          </a:p>
          <a:p>
            <a:pPr marL="0" indent="0">
              <a:buNone/>
            </a:pPr>
            <a:endParaRPr lang="en-IN" dirty="0"/>
          </a:p>
        </p:txBody>
      </p:sp>
    </p:spTree>
    <p:extLst>
      <p:ext uri="{BB962C8B-B14F-4D97-AF65-F5344CB8AC3E}">
        <p14:creationId xmlns:p14="http://schemas.microsoft.com/office/powerpoint/2010/main" val="1909314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3CFB8-2C70-E9EB-798C-5113D9E5DCD8}"/>
              </a:ext>
            </a:extLst>
          </p:cNvPr>
          <p:cNvSpPr>
            <a:spLocks noGrp="1"/>
          </p:cNvSpPr>
          <p:nvPr>
            <p:ph idx="1"/>
          </p:nvPr>
        </p:nvSpPr>
        <p:spPr>
          <a:xfrm>
            <a:off x="838200" y="577516"/>
            <a:ext cx="10515600" cy="5599447"/>
          </a:xfrm>
        </p:spPr>
        <p:txBody>
          <a:bodyPr/>
          <a:lstStyle/>
          <a:p>
            <a:r>
              <a:rPr lang="en-US" sz="1600" b="1" dirty="0">
                <a:solidFill>
                  <a:srgbClr val="0B4F6C"/>
                </a:solidFill>
                <a:latin typeface="Calibri" pitchFamily="34" charset="0"/>
                <a:ea typeface="Calibri" pitchFamily="34" charset="-122"/>
                <a:cs typeface="Calibri" pitchFamily="34" charset="-120"/>
              </a:rPr>
              <a:t>Dataset — Collection &amp; Relevance</a:t>
            </a:r>
            <a:endParaRPr lang="en-US" sz="1600" dirty="0"/>
          </a:p>
          <a:p>
            <a:pPr marL="177800" indent="-177800">
              <a:spcAft>
                <a:spcPts val="600"/>
              </a:spcAft>
              <a:buSzPct val="100000"/>
            </a:pPr>
            <a:r>
              <a:rPr lang="en-US" sz="1400" dirty="0">
                <a:solidFill>
                  <a:srgbClr val="222222"/>
                </a:solidFill>
                <a:latin typeface="Calibri" pitchFamily="34" charset="0"/>
                <a:ea typeface="Calibri" pitchFamily="34" charset="-122"/>
                <a:cs typeface="Calibri" pitchFamily="34" charset="-120"/>
              </a:rPr>
              <a:t>Milano Grid CDR dataset — collected from the real, public Telecom Italia Big Data Challenge dataset (Kaggle); aggregated call/SMS/internet activity per grid cell, ~2 months.</a:t>
            </a:r>
            <a:endParaRPr lang="en-US" sz="1400" dirty="0"/>
          </a:p>
          <a:p>
            <a:pPr marL="177800" indent="-177800">
              <a:spcAft>
                <a:spcPts val="600"/>
              </a:spcAft>
              <a:buSzPct val="100000"/>
            </a:pPr>
            <a:r>
              <a:rPr lang="en-US" sz="1400" dirty="0">
                <a:solidFill>
                  <a:srgbClr val="222222"/>
                </a:solidFill>
                <a:latin typeface="Calibri" pitchFamily="34" charset="0"/>
                <a:ea typeface="Calibri" pitchFamily="34" charset="-122"/>
                <a:cs typeface="Calibri" pitchFamily="34" charset="-120"/>
              </a:rPr>
              <a:t>Milan public event/holiday calendar — collected from public civic calendars (automated via the Python holidays library for national holidays; local events curated manually where needed).</a:t>
            </a:r>
            <a:endParaRPr lang="en-US" sz="1400" dirty="0"/>
          </a:p>
          <a:p>
            <a:pPr marL="177800" indent="-177800">
              <a:spcAft>
                <a:spcPts val="600"/>
              </a:spcAft>
              <a:buSzPct val="100000"/>
            </a:pPr>
            <a:r>
              <a:rPr lang="en-US" sz="1400" dirty="0">
                <a:solidFill>
                  <a:srgbClr val="222222"/>
                </a:solidFill>
                <a:latin typeface="Calibri" pitchFamily="34" charset="0"/>
                <a:ea typeface="Calibri" pitchFamily="34" charset="-122"/>
                <a:cs typeface="Calibri" pitchFamily="34" charset="-120"/>
              </a:rPr>
              <a:t>Relevance: the CDR data directly drives the forecasting and thresholding objectives; the event calendar directly enables the routine-vs-anomaly diagnosis objective.</a:t>
            </a:r>
          </a:p>
          <a:p>
            <a:pPr marL="0" indent="0">
              <a:spcAft>
                <a:spcPts val="600"/>
              </a:spcAft>
              <a:buSzPct val="100000"/>
              <a:buNone/>
            </a:pPr>
            <a:r>
              <a:rPr lang="en-US" sz="1600" b="1" dirty="0">
                <a:solidFill>
                  <a:srgbClr val="0B4F6C"/>
                </a:solidFill>
                <a:latin typeface="Calibri" pitchFamily="34" charset="0"/>
                <a:ea typeface="Calibri" pitchFamily="34" charset="-122"/>
                <a:cs typeface="Calibri" pitchFamily="34" charset="-120"/>
              </a:rPr>
              <a:t>Technical Stack				Expected Outcomes</a:t>
            </a:r>
            <a:endParaRPr lang="en-US" sz="1600" dirty="0"/>
          </a:p>
          <a:p>
            <a:pPr marL="177800" indent="-177800">
              <a:spcAft>
                <a:spcPts val="500"/>
              </a:spcAft>
              <a:buSzPct val="100000"/>
            </a:pPr>
            <a:r>
              <a:rPr lang="en-US" sz="1400" dirty="0" err="1">
                <a:solidFill>
                  <a:srgbClr val="222222"/>
                </a:solidFill>
                <a:latin typeface="Calibri" pitchFamily="34" charset="0"/>
                <a:ea typeface="Calibri" pitchFamily="34" charset="-122"/>
                <a:cs typeface="Calibri" pitchFamily="34" charset="-120"/>
              </a:rPr>
              <a:t>LightGBM</a:t>
            </a:r>
            <a:r>
              <a:rPr lang="en-US" sz="1400" dirty="0">
                <a:solidFill>
                  <a:srgbClr val="222222"/>
                </a:solidFill>
                <a:latin typeface="Calibri" pitchFamily="34" charset="0"/>
                <a:ea typeface="Calibri" pitchFamily="34" charset="-122"/>
                <a:cs typeface="Calibri" pitchFamily="34" charset="-120"/>
              </a:rPr>
              <a:t> / </a:t>
            </a:r>
            <a:r>
              <a:rPr lang="en-US" sz="1400" dirty="0" err="1">
                <a:solidFill>
                  <a:srgbClr val="222222"/>
                </a:solidFill>
                <a:latin typeface="Calibri" pitchFamily="34" charset="0"/>
                <a:ea typeface="Calibri" pitchFamily="34" charset="-122"/>
                <a:cs typeface="Calibri" pitchFamily="34" charset="-120"/>
              </a:rPr>
              <a:t>PatchTST</a:t>
            </a:r>
            <a:r>
              <a:rPr lang="en-US" sz="1400" dirty="0">
                <a:solidFill>
                  <a:srgbClr val="222222"/>
                </a:solidFill>
                <a:latin typeface="Calibri" pitchFamily="34" charset="0"/>
                <a:ea typeface="Calibri" pitchFamily="34" charset="-122"/>
                <a:cs typeface="Calibri" pitchFamily="34" charset="-120"/>
              </a:rPr>
              <a:t> (forecasting)			A per-cell forecasting model that beats a seasonal-naive baseline.</a:t>
            </a:r>
            <a:endParaRPr lang="en-US" sz="1400" dirty="0"/>
          </a:p>
          <a:p>
            <a:pPr marL="177800" indent="-177800">
              <a:spcAft>
                <a:spcPts val="500"/>
              </a:spcAft>
              <a:buSzPct val="100000"/>
            </a:pPr>
            <a:r>
              <a:rPr lang="en-US" sz="1400" dirty="0" err="1">
                <a:solidFill>
                  <a:srgbClr val="222222"/>
                </a:solidFill>
                <a:latin typeface="Calibri" pitchFamily="34" charset="0"/>
                <a:ea typeface="Calibri" pitchFamily="34" charset="-122"/>
                <a:cs typeface="Calibri" pitchFamily="34" charset="-120"/>
              </a:rPr>
              <a:t>LangGraph</a:t>
            </a:r>
            <a:r>
              <a:rPr lang="en-US" sz="1400" dirty="0">
                <a:solidFill>
                  <a:srgbClr val="222222"/>
                </a:solidFill>
                <a:latin typeface="Calibri" pitchFamily="34" charset="0"/>
                <a:ea typeface="Calibri" pitchFamily="34" charset="-122"/>
                <a:cs typeface="Calibri" pitchFamily="34" charset="-120"/>
              </a:rPr>
              <a:t> (diagnosis agent)			A diagnosis agent that reliably separates routine from anomalous congestion.</a:t>
            </a:r>
            <a:endParaRPr lang="en-US" sz="1400" dirty="0"/>
          </a:p>
          <a:p>
            <a:pPr marL="177800" indent="-177800">
              <a:spcAft>
                <a:spcPts val="500"/>
              </a:spcAft>
              <a:buSzPct val="100000"/>
            </a:pPr>
            <a:r>
              <a:rPr lang="en-US" sz="1400" dirty="0">
                <a:solidFill>
                  <a:srgbClr val="222222"/>
                </a:solidFill>
                <a:latin typeface="Calibri" pitchFamily="34" charset="0"/>
                <a:ea typeface="Calibri" pitchFamily="34" charset="-122"/>
                <a:cs typeface="Calibri" pitchFamily="34" charset="-120"/>
              </a:rPr>
              <a:t>Google OR-Tools (constrained solver)		Solver-generated, always-feasible reallocation recommendations for routine 					cases.</a:t>
            </a:r>
            <a:endParaRPr lang="en-US" sz="1400" dirty="0"/>
          </a:p>
          <a:p>
            <a:pPr marL="177800" indent="-177800">
              <a:spcAft>
                <a:spcPts val="500"/>
              </a:spcAft>
              <a:buSzPct val="100000"/>
            </a:pPr>
            <a:r>
              <a:rPr lang="en-US" sz="1400" dirty="0" err="1">
                <a:solidFill>
                  <a:srgbClr val="222222"/>
                </a:solidFill>
                <a:latin typeface="Calibri" pitchFamily="34" charset="0"/>
                <a:ea typeface="Calibri" pitchFamily="34" charset="-122"/>
                <a:cs typeface="Calibri" pitchFamily="34" charset="-120"/>
              </a:rPr>
              <a:t>FastAPI</a:t>
            </a:r>
            <a:r>
              <a:rPr lang="en-US" sz="1400" dirty="0">
                <a:solidFill>
                  <a:srgbClr val="222222"/>
                </a:solidFill>
                <a:latin typeface="Calibri" pitchFamily="34" charset="0"/>
                <a:ea typeface="Calibri" pitchFamily="34" charset="-122"/>
                <a:cs typeface="Calibri" pitchFamily="34" charset="-120"/>
              </a:rPr>
              <a:t> + </a:t>
            </a:r>
            <a:r>
              <a:rPr lang="en-US" sz="1400" dirty="0" err="1">
                <a:solidFill>
                  <a:srgbClr val="222222"/>
                </a:solidFill>
                <a:latin typeface="Calibri" pitchFamily="34" charset="0"/>
                <a:ea typeface="Calibri" pitchFamily="34" charset="-122"/>
                <a:cs typeface="Calibri" pitchFamily="34" charset="-120"/>
              </a:rPr>
              <a:t>Streamlit</a:t>
            </a:r>
            <a:r>
              <a:rPr lang="en-US" sz="1400" dirty="0">
                <a:solidFill>
                  <a:srgbClr val="222222"/>
                </a:solidFill>
                <a:latin typeface="Calibri" pitchFamily="34" charset="0"/>
                <a:ea typeface="Calibri" pitchFamily="34" charset="-122"/>
                <a:cs typeface="Calibri" pitchFamily="34" charset="-120"/>
              </a:rPr>
              <a:t>/</a:t>
            </a:r>
            <a:r>
              <a:rPr lang="en-US" sz="1400" dirty="0" err="1">
                <a:solidFill>
                  <a:srgbClr val="222222"/>
                </a:solidFill>
                <a:latin typeface="Calibri" pitchFamily="34" charset="0"/>
                <a:ea typeface="Calibri" pitchFamily="34" charset="-122"/>
                <a:cs typeface="Calibri" pitchFamily="34" charset="-120"/>
              </a:rPr>
              <a:t>Plotly</a:t>
            </a:r>
            <a:r>
              <a:rPr lang="en-US" sz="1400" dirty="0">
                <a:solidFill>
                  <a:srgbClr val="222222"/>
                </a:solidFill>
                <a:latin typeface="Calibri" pitchFamily="34" charset="0"/>
                <a:ea typeface="Calibri" pitchFamily="34" charset="-122"/>
                <a:cs typeface="Calibri" pitchFamily="34" charset="-120"/>
              </a:rPr>
              <a:t> (map dashboard)		A measured congestion-reduction benefit from counterfactual simulation on 					real data</a:t>
            </a:r>
            <a:endParaRPr lang="en-US" sz="1400" dirty="0"/>
          </a:p>
          <a:p>
            <a:pPr marL="177800" indent="-177800">
              <a:spcAft>
                <a:spcPts val="500"/>
              </a:spcAft>
              <a:buSzPct val="100000"/>
            </a:pPr>
            <a:r>
              <a:rPr lang="en-US" sz="1400" dirty="0">
                <a:solidFill>
                  <a:srgbClr val="222222"/>
                </a:solidFill>
                <a:latin typeface="Calibri" pitchFamily="34" charset="0"/>
                <a:ea typeface="Calibri" pitchFamily="34" charset="-122"/>
                <a:cs typeface="Calibri" pitchFamily="34" charset="-120"/>
              </a:rPr>
              <a:t>Docker + GitHub Actions CI/CD			A deployed, map-based demo dashboard on Azure.</a:t>
            </a:r>
            <a:endParaRPr lang="en-US" sz="1400" dirty="0"/>
          </a:p>
          <a:p>
            <a:pPr marL="0" indent="0">
              <a:spcAft>
                <a:spcPts val="500"/>
              </a:spcAft>
              <a:buSzPct val="100000"/>
              <a:buNone/>
            </a:pPr>
            <a:endParaRPr lang="en-US" sz="1400" dirty="0"/>
          </a:p>
          <a:p>
            <a:pPr marL="0" indent="0">
              <a:spcAft>
                <a:spcPts val="600"/>
              </a:spcAft>
              <a:buSzPct val="100000"/>
              <a:buNone/>
            </a:pPr>
            <a:endParaRPr lang="en-US" sz="1400" dirty="0"/>
          </a:p>
          <a:p>
            <a:endParaRPr lang="en-IN" dirty="0"/>
          </a:p>
        </p:txBody>
      </p:sp>
    </p:spTree>
    <p:extLst>
      <p:ext uri="{BB962C8B-B14F-4D97-AF65-F5344CB8AC3E}">
        <p14:creationId xmlns:p14="http://schemas.microsoft.com/office/powerpoint/2010/main" val="1747024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1098</Words>
  <Application>Microsoft Office PowerPoint</Application>
  <PresentationFormat>Widescreen</PresentationFormat>
  <Paragraphs>57</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Times New Roman MT Bold</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mukeshvarma2707@outlook.com</dc:creator>
  <cp:lastModifiedBy>mukeshvarma2707@outlook.com</cp:lastModifiedBy>
  <cp:revision>1</cp:revision>
  <dcterms:created xsi:type="dcterms:W3CDTF">2026-08-27T13:13:44Z</dcterms:created>
  <dcterms:modified xsi:type="dcterms:W3CDTF">2026-08-27T16:35:03Z</dcterms:modified>
</cp:coreProperties>
</file>